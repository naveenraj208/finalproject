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6"/>
  </p:notesMasterIdLst>
  <p:sldIdLst>
    <p:sldId id="256" r:id="rId2"/>
    <p:sldId id="257" r:id="rId3"/>
    <p:sldId id="296" r:id="rId4"/>
    <p:sldId id="259" r:id="rId5"/>
    <p:sldId id="297" r:id="rId6"/>
    <p:sldId id="270" r:id="rId7"/>
    <p:sldId id="295" r:id="rId8"/>
    <p:sldId id="287" r:id="rId9"/>
    <p:sldId id="289" r:id="rId10"/>
    <p:sldId id="294" r:id="rId11"/>
    <p:sldId id="284" r:id="rId12"/>
    <p:sldId id="264" r:id="rId13"/>
    <p:sldId id="298" r:id="rId14"/>
    <p:sldId id="293" r:id="rId15"/>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1pPr>
    <a:lvl2pPr marL="0" marR="0" indent="4572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2pPr>
    <a:lvl3pPr marL="0" marR="0" indent="9144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3pPr>
    <a:lvl4pPr marL="0" marR="0" indent="13716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4pPr>
    <a:lvl5pPr marL="0" marR="0" indent="182880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98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F83A97-6791-EA3B-F998-204D6EDE72C1}" v="854" dt="2025-08-11T14:39:08.029"/>
    <p1510:client id="{B31252A2-CA38-3FF3-D4F1-4D3D9414E053}" v="278" dt="2025-08-11T14:30:42.942"/>
    <p1510:client id="{DD1E966F-DAF2-2520-6BF9-3195ADD9A754}" v="98" dt="2025-08-11T14:48:48.061"/>
    <p1510:client id="{DF2947E9-7C3C-66B9-C6E0-634F022DF1FE}" v="305" dt="2025-08-11T15:20:02.36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AF2611-4B58-ED43-AC9F-B952F610F406}" type="doc">
      <dgm:prSet loTypeId="urn:microsoft.com/office/officeart/2005/8/layout/StepDownProcess" loCatId="" qsTypeId="urn:microsoft.com/office/officeart/2005/8/quickstyle/simple1" qsCatId="simple" csTypeId="urn:microsoft.com/office/officeart/2005/8/colors/accent1_2" csCatId="accent1" phldr="1"/>
      <dgm:spPr/>
      <dgm:t>
        <a:bodyPr/>
        <a:lstStyle/>
        <a:p>
          <a:endParaRPr lang="en-US"/>
        </a:p>
      </dgm:t>
    </dgm:pt>
    <dgm:pt modelId="{16F9E631-8BA3-154F-A6E6-07CA57FBC2DB}">
      <dgm:prSet phldrT="[Text]"/>
      <dgm:spPr/>
      <dgm:t>
        <a:bodyPr/>
        <a:lstStyle/>
        <a:p>
          <a:r>
            <a:rPr lang="en-US">
              <a:solidFill>
                <a:schemeClr val="tx1"/>
              </a:solidFill>
            </a:rPr>
            <a:t>Literature Survey</a:t>
          </a:r>
        </a:p>
      </dgm:t>
    </dgm:pt>
    <dgm:pt modelId="{4BAA8D80-E90A-6945-90C2-16CAFC77FA6F}" type="parTrans" cxnId="{5D2F70F4-D4C2-FD4A-B54D-45A310324ADC}">
      <dgm:prSet/>
      <dgm:spPr/>
      <dgm:t>
        <a:bodyPr/>
        <a:lstStyle/>
        <a:p>
          <a:endParaRPr lang="en-US">
            <a:solidFill>
              <a:schemeClr val="tx1"/>
            </a:solidFill>
          </a:endParaRPr>
        </a:p>
      </dgm:t>
    </dgm:pt>
    <dgm:pt modelId="{40437896-D1C0-9744-812A-639F6C127825}" type="sibTrans" cxnId="{5D2F70F4-D4C2-FD4A-B54D-45A310324ADC}">
      <dgm:prSet/>
      <dgm:spPr/>
      <dgm:t>
        <a:bodyPr/>
        <a:lstStyle/>
        <a:p>
          <a:endParaRPr lang="en-US">
            <a:solidFill>
              <a:schemeClr val="tx1"/>
            </a:solidFill>
          </a:endParaRPr>
        </a:p>
      </dgm:t>
    </dgm:pt>
    <dgm:pt modelId="{63672145-F932-0941-9207-6FD21631945F}">
      <dgm:prSet phldrT="[Text]"/>
      <dgm:spPr/>
      <dgm:t>
        <a:bodyPr/>
        <a:lstStyle/>
        <a:p>
          <a:r>
            <a:rPr lang="en-US">
              <a:solidFill>
                <a:schemeClr val="tx1"/>
              </a:solidFill>
            </a:rPr>
            <a:t>Design [Front End, Back End]</a:t>
          </a:r>
        </a:p>
      </dgm:t>
    </dgm:pt>
    <dgm:pt modelId="{DA9256D3-306A-2647-A641-4B0B371AA471}" type="parTrans" cxnId="{112C4A37-BD1F-0D4F-8BDF-AF61C42AA624}">
      <dgm:prSet/>
      <dgm:spPr/>
      <dgm:t>
        <a:bodyPr/>
        <a:lstStyle/>
        <a:p>
          <a:endParaRPr lang="en-US">
            <a:solidFill>
              <a:schemeClr val="tx1"/>
            </a:solidFill>
          </a:endParaRPr>
        </a:p>
      </dgm:t>
    </dgm:pt>
    <dgm:pt modelId="{EE4E87B9-A6F7-D040-A8C9-2B94C61F8F15}" type="sibTrans" cxnId="{112C4A37-BD1F-0D4F-8BDF-AF61C42AA624}">
      <dgm:prSet/>
      <dgm:spPr/>
      <dgm:t>
        <a:bodyPr/>
        <a:lstStyle/>
        <a:p>
          <a:endParaRPr lang="en-US">
            <a:solidFill>
              <a:schemeClr val="tx1"/>
            </a:solidFill>
          </a:endParaRPr>
        </a:p>
      </dgm:t>
    </dgm:pt>
    <dgm:pt modelId="{180ED30E-9BB7-2945-8E67-38EC3B69034A}">
      <dgm:prSet phldrT="[Text]"/>
      <dgm:spPr/>
      <dgm:t>
        <a:bodyPr/>
        <a:lstStyle/>
        <a:p>
          <a:r>
            <a:rPr lang="en-US">
              <a:solidFill>
                <a:schemeClr val="tx1"/>
              </a:solidFill>
            </a:rPr>
            <a:t>Implementation</a:t>
          </a:r>
        </a:p>
      </dgm:t>
    </dgm:pt>
    <dgm:pt modelId="{CCFA8DD9-517C-4C48-9ACE-EAEC7B4B1D8D}" type="parTrans" cxnId="{15010B8E-8FC6-034B-A7AD-F331240F7012}">
      <dgm:prSet/>
      <dgm:spPr/>
      <dgm:t>
        <a:bodyPr/>
        <a:lstStyle/>
        <a:p>
          <a:endParaRPr lang="en-US">
            <a:solidFill>
              <a:schemeClr val="tx1"/>
            </a:solidFill>
          </a:endParaRPr>
        </a:p>
      </dgm:t>
    </dgm:pt>
    <dgm:pt modelId="{9581D7FD-E2E0-0241-80C7-1BF3EEF3518C}" type="sibTrans" cxnId="{15010B8E-8FC6-034B-A7AD-F331240F7012}">
      <dgm:prSet/>
      <dgm:spPr/>
      <dgm:t>
        <a:bodyPr/>
        <a:lstStyle/>
        <a:p>
          <a:endParaRPr lang="en-US">
            <a:solidFill>
              <a:schemeClr val="tx1"/>
            </a:solidFill>
          </a:endParaRPr>
        </a:p>
      </dgm:t>
    </dgm:pt>
    <dgm:pt modelId="{44352C0E-9228-1D41-9AC7-630454862AAB}">
      <dgm:prSet phldrT="[Text]"/>
      <dgm:spPr/>
      <dgm:t>
        <a:bodyPr/>
        <a:lstStyle/>
        <a:p>
          <a:r>
            <a:rPr lang="en-US">
              <a:solidFill>
                <a:schemeClr val="tx1"/>
              </a:solidFill>
            </a:rPr>
            <a:t>Testing</a:t>
          </a:r>
        </a:p>
      </dgm:t>
    </dgm:pt>
    <dgm:pt modelId="{BB03014B-614B-4E4D-B179-22BF96D1FDA5}" type="parTrans" cxnId="{016D9485-956C-624D-A592-DDA4E4AA6CC5}">
      <dgm:prSet/>
      <dgm:spPr/>
      <dgm:t>
        <a:bodyPr/>
        <a:lstStyle/>
        <a:p>
          <a:endParaRPr lang="en-US">
            <a:solidFill>
              <a:schemeClr val="tx1"/>
            </a:solidFill>
          </a:endParaRPr>
        </a:p>
      </dgm:t>
    </dgm:pt>
    <dgm:pt modelId="{D2AC5C65-A520-AE49-8D76-EE23E4A07C4A}" type="sibTrans" cxnId="{016D9485-956C-624D-A592-DDA4E4AA6CC5}">
      <dgm:prSet/>
      <dgm:spPr/>
      <dgm:t>
        <a:bodyPr/>
        <a:lstStyle/>
        <a:p>
          <a:endParaRPr lang="en-US">
            <a:solidFill>
              <a:schemeClr val="tx1"/>
            </a:solidFill>
          </a:endParaRPr>
        </a:p>
      </dgm:t>
    </dgm:pt>
    <dgm:pt modelId="{251E4A29-F563-D34A-A9F7-27833A2BC30D}">
      <dgm:prSet phldrT="[Text]"/>
      <dgm:spPr/>
      <dgm:t>
        <a:bodyPr/>
        <a:lstStyle/>
        <a:p>
          <a:r>
            <a:rPr lang="en-US">
              <a:solidFill>
                <a:schemeClr val="tx1"/>
              </a:solidFill>
            </a:rPr>
            <a:t>Document Submission</a:t>
          </a:r>
        </a:p>
      </dgm:t>
    </dgm:pt>
    <dgm:pt modelId="{B9E7D4BF-66C0-D046-BA68-7E24F4AB0843}" type="parTrans" cxnId="{E336EE89-5EC2-AE4C-81C9-2EBDE6E482D4}">
      <dgm:prSet/>
      <dgm:spPr/>
      <dgm:t>
        <a:bodyPr/>
        <a:lstStyle/>
        <a:p>
          <a:endParaRPr lang="en-US">
            <a:solidFill>
              <a:schemeClr val="tx1"/>
            </a:solidFill>
          </a:endParaRPr>
        </a:p>
      </dgm:t>
    </dgm:pt>
    <dgm:pt modelId="{57ED735E-B5D2-C749-867E-EB96611C0B8B}" type="sibTrans" cxnId="{E336EE89-5EC2-AE4C-81C9-2EBDE6E482D4}">
      <dgm:prSet/>
      <dgm:spPr/>
      <dgm:t>
        <a:bodyPr/>
        <a:lstStyle/>
        <a:p>
          <a:endParaRPr lang="en-US">
            <a:solidFill>
              <a:schemeClr val="tx1"/>
            </a:solidFill>
          </a:endParaRPr>
        </a:p>
      </dgm:t>
    </dgm:pt>
    <dgm:pt modelId="{6469F03D-EC0D-E14C-9147-635163E16719}">
      <dgm:prSet phldrT="[Text]" custT="1"/>
      <dgm:spPr/>
      <dgm:t>
        <a:bodyPr/>
        <a:lstStyle/>
        <a:p>
          <a:pPr rtl="0"/>
          <a:r>
            <a:rPr lang="en-US" sz="1100">
              <a:solidFill>
                <a:schemeClr val="tx1"/>
              </a:solidFill>
              <a:latin typeface="Helvetica"/>
              <a:cs typeface="Helvetica"/>
            </a:rPr>
            <a:t>3rd October 2025</a:t>
          </a:r>
          <a:endParaRPr lang="en-US" sz="1100">
            <a:solidFill>
              <a:schemeClr val="tx1"/>
            </a:solidFill>
          </a:endParaRPr>
        </a:p>
      </dgm:t>
    </dgm:pt>
    <dgm:pt modelId="{31D6F60D-A7D1-C54D-964D-3B8790B82FA4}" type="parTrans" cxnId="{69DAFA03-0878-9247-9AF4-F13FE4FF5D9B}">
      <dgm:prSet/>
      <dgm:spPr/>
      <dgm:t>
        <a:bodyPr/>
        <a:lstStyle/>
        <a:p>
          <a:endParaRPr lang="en-US">
            <a:solidFill>
              <a:schemeClr val="tx1"/>
            </a:solidFill>
          </a:endParaRPr>
        </a:p>
      </dgm:t>
    </dgm:pt>
    <dgm:pt modelId="{DCECCFCD-FFA0-2B4E-8620-4D260FCCA4E0}" type="sibTrans" cxnId="{69DAFA03-0878-9247-9AF4-F13FE4FF5D9B}">
      <dgm:prSet/>
      <dgm:spPr/>
      <dgm:t>
        <a:bodyPr/>
        <a:lstStyle/>
        <a:p>
          <a:endParaRPr lang="en-US">
            <a:solidFill>
              <a:schemeClr val="tx1"/>
            </a:solidFill>
          </a:endParaRPr>
        </a:p>
      </dgm:t>
    </dgm:pt>
    <dgm:pt modelId="{712C06CF-58B4-8F4A-A1C3-18737522BAA5}">
      <dgm:prSet phldrT="[Text]" custT="1"/>
      <dgm:spPr/>
      <dgm:t>
        <a:bodyPr/>
        <a:lstStyle/>
        <a:p>
          <a:pPr rtl="0"/>
          <a:r>
            <a:rPr lang="en-US" sz="1100">
              <a:solidFill>
                <a:schemeClr val="tx1"/>
              </a:solidFill>
              <a:latin typeface="Helvetica"/>
              <a:cs typeface="Helvetica"/>
            </a:rPr>
            <a:t>20th December 2025</a:t>
          </a:r>
          <a:endParaRPr lang="en-US" sz="1100">
            <a:solidFill>
              <a:schemeClr val="tx1"/>
            </a:solidFill>
          </a:endParaRPr>
        </a:p>
      </dgm:t>
    </dgm:pt>
    <dgm:pt modelId="{00A2F76A-F4C8-F042-BC58-5B28B1FEF030}" type="parTrans" cxnId="{552A83B2-FDAE-E143-BB66-928925B322B7}">
      <dgm:prSet/>
      <dgm:spPr/>
      <dgm:t>
        <a:bodyPr/>
        <a:lstStyle/>
        <a:p>
          <a:endParaRPr lang="en-US">
            <a:solidFill>
              <a:schemeClr val="tx1"/>
            </a:solidFill>
          </a:endParaRPr>
        </a:p>
      </dgm:t>
    </dgm:pt>
    <dgm:pt modelId="{F7A6ECC7-ED92-634B-B481-4D7D62B796B5}" type="sibTrans" cxnId="{552A83B2-FDAE-E143-BB66-928925B322B7}">
      <dgm:prSet/>
      <dgm:spPr/>
      <dgm:t>
        <a:bodyPr/>
        <a:lstStyle/>
        <a:p>
          <a:endParaRPr lang="en-US">
            <a:solidFill>
              <a:schemeClr val="tx1"/>
            </a:solidFill>
          </a:endParaRPr>
        </a:p>
      </dgm:t>
    </dgm:pt>
    <dgm:pt modelId="{B761BE11-3B98-534C-8389-3D511BB432FF}">
      <dgm:prSet phldrT="[Text]" custT="1"/>
      <dgm:spPr/>
      <dgm:t>
        <a:bodyPr/>
        <a:lstStyle/>
        <a:p>
          <a:pPr rtl="0"/>
          <a:r>
            <a:rPr lang="en-US" sz="1000">
              <a:solidFill>
                <a:schemeClr val="tx1"/>
              </a:solidFill>
              <a:latin typeface="Helvetica"/>
              <a:cs typeface="Helvetica"/>
            </a:rPr>
            <a:t>25th January 2026</a:t>
          </a:r>
          <a:endParaRPr lang="en-US" sz="1000">
            <a:solidFill>
              <a:schemeClr val="tx1"/>
            </a:solidFill>
          </a:endParaRPr>
        </a:p>
      </dgm:t>
    </dgm:pt>
    <dgm:pt modelId="{53F8C2F9-90C5-F04A-B13E-59A7DBEEB722}" type="parTrans" cxnId="{7F3F2935-1376-434A-B6E9-CEA12E0D559A}">
      <dgm:prSet/>
      <dgm:spPr/>
      <dgm:t>
        <a:bodyPr/>
        <a:lstStyle/>
        <a:p>
          <a:endParaRPr lang="en-US">
            <a:solidFill>
              <a:schemeClr val="tx1"/>
            </a:solidFill>
          </a:endParaRPr>
        </a:p>
      </dgm:t>
    </dgm:pt>
    <dgm:pt modelId="{1CFC13B1-0710-8745-A251-B44B9B630299}" type="sibTrans" cxnId="{7F3F2935-1376-434A-B6E9-CEA12E0D559A}">
      <dgm:prSet/>
      <dgm:spPr/>
      <dgm:t>
        <a:bodyPr/>
        <a:lstStyle/>
        <a:p>
          <a:endParaRPr lang="en-US">
            <a:solidFill>
              <a:schemeClr val="tx1"/>
            </a:solidFill>
          </a:endParaRPr>
        </a:p>
      </dgm:t>
    </dgm:pt>
    <dgm:pt modelId="{05C01FBF-0839-B840-AA40-B5D4B5EF9464}">
      <dgm:prSet phldrT="[Text]" custT="1"/>
      <dgm:spPr/>
      <dgm:t>
        <a:bodyPr/>
        <a:lstStyle/>
        <a:p>
          <a:pPr rtl="0"/>
          <a:r>
            <a:rPr lang="en-US" sz="1000">
              <a:solidFill>
                <a:schemeClr val="tx1"/>
              </a:solidFill>
              <a:latin typeface="Helvetica"/>
              <a:cs typeface="Helvetica"/>
            </a:rPr>
            <a:t>15th February 2026</a:t>
          </a:r>
          <a:endParaRPr lang="en-US" sz="1000">
            <a:solidFill>
              <a:schemeClr val="tx1"/>
            </a:solidFill>
          </a:endParaRPr>
        </a:p>
      </dgm:t>
    </dgm:pt>
    <dgm:pt modelId="{4292C26E-910E-F242-B4EA-85C15677A931}" type="parTrans" cxnId="{570398A5-7B9B-684E-836B-828C67CE95B5}">
      <dgm:prSet/>
      <dgm:spPr/>
      <dgm:t>
        <a:bodyPr/>
        <a:lstStyle/>
        <a:p>
          <a:endParaRPr lang="en-US">
            <a:solidFill>
              <a:schemeClr val="tx1"/>
            </a:solidFill>
          </a:endParaRPr>
        </a:p>
      </dgm:t>
    </dgm:pt>
    <dgm:pt modelId="{9CE79F6D-8C8B-134E-870B-A3814A161031}" type="sibTrans" cxnId="{570398A5-7B9B-684E-836B-828C67CE95B5}">
      <dgm:prSet/>
      <dgm:spPr/>
      <dgm:t>
        <a:bodyPr/>
        <a:lstStyle/>
        <a:p>
          <a:endParaRPr lang="en-US">
            <a:solidFill>
              <a:schemeClr val="tx1"/>
            </a:solidFill>
          </a:endParaRPr>
        </a:p>
      </dgm:t>
    </dgm:pt>
    <dgm:pt modelId="{26B4761A-8722-154A-9A4E-6B2E8309550C}">
      <dgm:prSet phldrT="[Text]"/>
      <dgm:spPr/>
      <dgm:t>
        <a:bodyPr/>
        <a:lstStyle/>
        <a:p>
          <a:r>
            <a:rPr lang="en-US">
              <a:solidFill>
                <a:schemeClr val="tx1"/>
              </a:solidFill>
            </a:rPr>
            <a:t>Abstract Submission</a:t>
          </a:r>
        </a:p>
      </dgm:t>
    </dgm:pt>
    <dgm:pt modelId="{19278814-36C8-0643-9FFA-66C8A44E8EEC}" type="parTrans" cxnId="{3CBBF823-4682-A649-AD39-366A0823CC07}">
      <dgm:prSet/>
      <dgm:spPr/>
      <dgm:t>
        <a:bodyPr/>
        <a:lstStyle/>
        <a:p>
          <a:endParaRPr lang="en-US">
            <a:solidFill>
              <a:schemeClr val="tx1"/>
            </a:solidFill>
          </a:endParaRPr>
        </a:p>
      </dgm:t>
    </dgm:pt>
    <dgm:pt modelId="{B2DCC36A-7A1A-4C4F-90DA-FAE4C97E6C7D}" type="sibTrans" cxnId="{3CBBF823-4682-A649-AD39-366A0823CC07}">
      <dgm:prSet/>
      <dgm:spPr/>
      <dgm:t>
        <a:bodyPr/>
        <a:lstStyle/>
        <a:p>
          <a:endParaRPr lang="en-US">
            <a:solidFill>
              <a:schemeClr val="tx1"/>
            </a:solidFill>
          </a:endParaRPr>
        </a:p>
      </dgm:t>
    </dgm:pt>
    <dgm:pt modelId="{CB6CE777-E645-594F-9F72-31FA50915471}">
      <dgm:prSet phldrT="[Text]" custT="1"/>
      <dgm:spPr/>
      <dgm:t>
        <a:bodyPr/>
        <a:lstStyle/>
        <a:p>
          <a:pPr rtl="0"/>
          <a:r>
            <a:rPr lang="en-US" sz="1000">
              <a:solidFill>
                <a:schemeClr val="tx1"/>
              </a:solidFill>
              <a:latin typeface="Helvetica"/>
              <a:cs typeface="Helvetica"/>
            </a:rPr>
            <a:t>20th July 2025</a:t>
          </a:r>
          <a:endParaRPr lang="en-US" sz="1000">
            <a:solidFill>
              <a:schemeClr val="tx1"/>
            </a:solidFill>
          </a:endParaRPr>
        </a:p>
      </dgm:t>
    </dgm:pt>
    <dgm:pt modelId="{A3FA10DA-B8BC-6B42-A66B-27F9CED77F23}" type="parTrans" cxnId="{84262DD1-54DB-8D42-9C16-B543B3BB3374}">
      <dgm:prSet/>
      <dgm:spPr/>
      <dgm:t>
        <a:bodyPr/>
        <a:lstStyle/>
        <a:p>
          <a:endParaRPr lang="en-US">
            <a:solidFill>
              <a:schemeClr val="tx1"/>
            </a:solidFill>
          </a:endParaRPr>
        </a:p>
      </dgm:t>
    </dgm:pt>
    <dgm:pt modelId="{F64EEB12-0851-6B4F-BF84-33083DA26F4B}" type="sibTrans" cxnId="{84262DD1-54DB-8D42-9C16-B543B3BB3374}">
      <dgm:prSet/>
      <dgm:spPr/>
      <dgm:t>
        <a:bodyPr/>
        <a:lstStyle/>
        <a:p>
          <a:endParaRPr lang="en-US">
            <a:solidFill>
              <a:schemeClr val="tx1"/>
            </a:solidFill>
          </a:endParaRPr>
        </a:p>
      </dgm:t>
    </dgm:pt>
    <dgm:pt modelId="{CA627FEB-5C4C-4C51-8A75-FEFCA4466D7B}">
      <dgm:prSet phldrT="[Text]" custT="1"/>
      <dgm:spPr/>
      <dgm:t>
        <a:bodyPr/>
        <a:lstStyle/>
        <a:p>
          <a:pPr rtl="0"/>
          <a:r>
            <a:rPr lang="en-US" sz="1050">
              <a:solidFill>
                <a:schemeClr val="tx1"/>
              </a:solidFill>
              <a:latin typeface="Helvetica"/>
              <a:cs typeface="Helvetica"/>
            </a:rPr>
            <a:t>6ht August 2025</a:t>
          </a:r>
          <a:endParaRPr lang="en-US" sz="1050">
            <a:solidFill>
              <a:schemeClr val="tx1"/>
            </a:solidFill>
          </a:endParaRPr>
        </a:p>
      </dgm:t>
    </dgm:pt>
    <dgm:pt modelId="{312DFEE4-A0BE-4287-98A9-69EE828C53A8}" type="parTrans" cxnId="{8716AEE2-5EF1-42C9-B2C6-5BB2852185DF}">
      <dgm:prSet/>
      <dgm:spPr/>
      <dgm:t>
        <a:bodyPr/>
        <a:lstStyle/>
        <a:p>
          <a:endParaRPr lang="en-US"/>
        </a:p>
      </dgm:t>
    </dgm:pt>
    <dgm:pt modelId="{C867BD04-E42D-4E36-9651-FF055F4AF5F0}" type="sibTrans" cxnId="{8716AEE2-5EF1-42C9-B2C6-5BB2852185DF}">
      <dgm:prSet/>
      <dgm:spPr/>
      <dgm:t>
        <a:bodyPr/>
        <a:lstStyle/>
        <a:p>
          <a:endParaRPr lang="en-US"/>
        </a:p>
      </dgm:t>
    </dgm:pt>
    <dgm:pt modelId="{49E2B0A6-6F15-3D4D-BF88-D0B2483CB55B}" type="pres">
      <dgm:prSet presAssocID="{92AF2611-4B58-ED43-AC9F-B952F610F406}" presName="rootnode" presStyleCnt="0">
        <dgm:presLayoutVars>
          <dgm:chMax/>
          <dgm:chPref/>
          <dgm:dir/>
          <dgm:animLvl val="lvl"/>
        </dgm:presLayoutVars>
      </dgm:prSet>
      <dgm:spPr/>
    </dgm:pt>
    <dgm:pt modelId="{E975EE4B-D42E-E84D-8A4A-2906A98D9890}" type="pres">
      <dgm:prSet presAssocID="{26B4761A-8722-154A-9A4E-6B2E8309550C}" presName="composite" presStyleCnt="0"/>
      <dgm:spPr/>
    </dgm:pt>
    <dgm:pt modelId="{FC8198D2-B811-F543-848D-08253013A363}" type="pres">
      <dgm:prSet presAssocID="{26B4761A-8722-154A-9A4E-6B2E8309550C}" presName="bentUpArrow1" presStyleLbl="alignImgPlace1" presStyleIdx="0" presStyleCnt="5"/>
      <dgm:spPr/>
    </dgm:pt>
    <dgm:pt modelId="{1A27501D-E342-BE40-9448-5C65451E51A0}" type="pres">
      <dgm:prSet presAssocID="{26B4761A-8722-154A-9A4E-6B2E8309550C}" presName="ParentText" presStyleLbl="node1" presStyleIdx="0" presStyleCnt="6">
        <dgm:presLayoutVars>
          <dgm:chMax val="1"/>
          <dgm:chPref val="1"/>
          <dgm:bulletEnabled val="1"/>
        </dgm:presLayoutVars>
      </dgm:prSet>
      <dgm:spPr/>
    </dgm:pt>
    <dgm:pt modelId="{13263DF5-F771-E44D-A3A6-7359AB5A694B}" type="pres">
      <dgm:prSet presAssocID="{26B4761A-8722-154A-9A4E-6B2E8309550C}" presName="ChildText" presStyleLbl="revTx" presStyleIdx="0" presStyleCnt="6" custScaleX="199197" custLinFactNeighborX="55604" custLinFactNeighborY="-1554">
        <dgm:presLayoutVars>
          <dgm:chMax val="0"/>
          <dgm:chPref val="0"/>
          <dgm:bulletEnabled val="1"/>
        </dgm:presLayoutVars>
      </dgm:prSet>
      <dgm:spPr/>
    </dgm:pt>
    <dgm:pt modelId="{1405AD88-5681-5740-8B0F-785D5C4C54E3}" type="pres">
      <dgm:prSet presAssocID="{B2DCC36A-7A1A-4C4F-90DA-FAE4C97E6C7D}" presName="sibTrans" presStyleCnt="0"/>
      <dgm:spPr/>
    </dgm:pt>
    <dgm:pt modelId="{876C9C10-85C7-794D-BECA-7E6B3040BD5B}" type="pres">
      <dgm:prSet presAssocID="{16F9E631-8BA3-154F-A6E6-07CA57FBC2DB}" presName="composite" presStyleCnt="0"/>
      <dgm:spPr/>
    </dgm:pt>
    <dgm:pt modelId="{7249723C-E4C0-8E4E-9876-FECBD8EB4088}" type="pres">
      <dgm:prSet presAssocID="{16F9E631-8BA3-154F-A6E6-07CA57FBC2DB}" presName="bentUpArrow1" presStyleLbl="alignImgPlace1" presStyleIdx="1" presStyleCnt="5"/>
      <dgm:spPr/>
    </dgm:pt>
    <dgm:pt modelId="{7176A5BC-3282-044F-8AE1-17BEE6013828}" type="pres">
      <dgm:prSet presAssocID="{16F9E631-8BA3-154F-A6E6-07CA57FBC2DB}" presName="ParentText" presStyleLbl="node1" presStyleIdx="1" presStyleCnt="6">
        <dgm:presLayoutVars>
          <dgm:chMax val="1"/>
          <dgm:chPref val="1"/>
          <dgm:bulletEnabled val="1"/>
        </dgm:presLayoutVars>
      </dgm:prSet>
      <dgm:spPr/>
    </dgm:pt>
    <dgm:pt modelId="{849E87F9-77C2-E148-A125-B75B32BAE82F}" type="pres">
      <dgm:prSet presAssocID="{16F9E631-8BA3-154F-A6E6-07CA57FBC2DB}" presName="ChildText" presStyleLbl="revTx" presStyleIdx="1" presStyleCnt="6" custScaleX="244962" custLinFactNeighborX="71475" custLinFactNeighborY="-1554">
        <dgm:presLayoutVars>
          <dgm:chMax val="0"/>
          <dgm:chPref val="0"/>
          <dgm:bulletEnabled val="1"/>
        </dgm:presLayoutVars>
      </dgm:prSet>
      <dgm:spPr/>
    </dgm:pt>
    <dgm:pt modelId="{A7334212-A42F-5947-B178-28EE2431D98C}" type="pres">
      <dgm:prSet presAssocID="{40437896-D1C0-9744-812A-639F6C127825}" presName="sibTrans" presStyleCnt="0"/>
      <dgm:spPr/>
    </dgm:pt>
    <dgm:pt modelId="{797595AA-82E7-9A45-818A-CBFC19FC01B4}" type="pres">
      <dgm:prSet presAssocID="{63672145-F932-0941-9207-6FD21631945F}" presName="composite" presStyleCnt="0"/>
      <dgm:spPr/>
    </dgm:pt>
    <dgm:pt modelId="{582A57C3-E208-4C4D-8464-8F41E2B621E9}" type="pres">
      <dgm:prSet presAssocID="{63672145-F932-0941-9207-6FD21631945F}" presName="bentUpArrow1" presStyleLbl="alignImgPlace1" presStyleIdx="2" presStyleCnt="5"/>
      <dgm:spPr/>
    </dgm:pt>
    <dgm:pt modelId="{8AD4400A-F79C-8A4B-829B-0D720ED8FB8C}" type="pres">
      <dgm:prSet presAssocID="{63672145-F932-0941-9207-6FD21631945F}" presName="ParentText" presStyleLbl="node1" presStyleIdx="2" presStyleCnt="6">
        <dgm:presLayoutVars>
          <dgm:chMax val="1"/>
          <dgm:chPref val="1"/>
          <dgm:bulletEnabled val="1"/>
        </dgm:presLayoutVars>
      </dgm:prSet>
      <dgm:spPr/>
    </dgm:pt>
    <dgm:pt modelId="{383D977E-49FE-154D-8370-6E0B15881094}" type="pres">
      <dgm:prSet presAssocID="{63672145-F932-0941-9207-6FD21631945F}" presName="ChildText" presStyleLbl="revTx" presStyleIdx="2" presStyleCnt="6" custScaleX="223363" custLinFactNeighborX="61177">
        <dgm:presLayoutVars>
          <dgm:chMax val="0"/>
          <dgm:chPref val="0"/>
          <dgm:bulletEnabled val="1"/>
        </dgm:presLayoutVars>
      </dgm:prSet>
      <dgm:spPr/>
    </dgm:pt>
    <dgm:pt modelId="{51D4CC9D-D22F-A045-9B1F-02AFD777BA4F}" type="pres">
      <dgm:prSet presAssocID="{EE4E87B9-A6F7-D040-A8C9-2B94C61F8F15}" presName="sibTrans" presStyleCnt="0"/>
      <dgm:spPr/>
    </dgm:pt>
    <dgm:pt modelId="{9B1BB91C-DFAA-BB42-8883-6C779B3E0CC7}" type="pres">
      <dgm:prSet presAssocID="{180ED30E-9BB7-2945-8E67-38EC3B69034A}" presName="composite" presStyleCnt="0"/>
      <dgm:spPr/>
    </dgm:pt>
    <dgm:pt modelId="{97925E51-E8AA-DC48-BFEB-51206266AB1D}" type="pres">
      <dgm:prSet presAssocID="{180ED30E-9BB7-2945-8E67-38EC3B69034A}" presName="bentUpArrow1" presStyleLbl="alignImgPlace1" presStyleIdx="3" presStyleCnt="5"/>
      <dgm:spPr/>
    </dgm:pt>
    <dgm:pt modelId="{8D80E448-C06F-8440-B08E-C700B7FCCC29}" type="pres">
      <dgm:prSet presAssocID="{180ED30E-9BB7-2945-8E67-38EC3B69034A}" presName="ParentText" presStyleLbl="node1" presStyleIdx="3" presStyleCnt="6">
        <dgm:presLayoutVars>
          <dgm:chMax val="1"/>
          <dgm:chPref val="1"/>
          <dgm:bulletEnabled val="1"/>
        </dgm:presLayoutVars>
      </dgm:prSet>
      <dgm:spPr/>
    </dgm:pt>
    <dgm:pt modelId="{7F2F534D-82F4-5443-8CF7-5BBA47CF0517}" type="pres">
      <dgm:prSet presAssocID="{180ED30E-9BB7-2945-8E67-38EC3B69034A}" presName="ChildText" presStyleLbl="revTx" presStyleIdx="3" presStyleCnt="6" custScaleX="216934" custLinFactNeighborX="66825">
        <dgm:presLayoutVars>
          <dgm:chMax val="0"/>
          <dgm:chPref val="0"/>
          <dgm:bulletEnabled val="1"/>
        </dgm:presLayoutVars>
      </dgm:prSet>
      <dgm:spPr/>
    </dgm:pt>
    <dgm:pt modelId="{CD6671F9-E0CD-EF49-94DC-C96CAC8CC7E3}" type="pres">
      <dgm:prSet presAssocID="{9581D7FD-E2E0-0241-80C7-1BF3EEF3518C}" presName="sibTrans" presStyleCnt="0"/>
      <dgm:spPr/>
    </dgm:pt>
    <dgm:pt modelId="{E13DFC65-0620-5546-9284-95854B643695}" type="pres">
      <dgm:prSet presAssocID="{44352C0E-9228-1D41-9AC7-630454862AAB}" presName="composite" presStyleCnt="0"/>
      <dgm:spPr/>
    </dgm:pt>
    <dgm:pt modelId="{7EA63742-38C6-7343-AA79-52C3D9CCAB0D}" type="pres">
      <dgm:prSet presAssocID="{44352C0E-9228-1D41-9AC7-630454862AAB}" presName="bentUpArrow1" presStyleLbl="alignImgPlace1" presStyleIdx="4" presStyleCnt="5"/>
      <dgm:spPr/>
    </dgm:pt>
    <dgm:pt modelId="{2642E532-D17B-8549-B299-BABD4A6DF310}" type="pres">
      <dgm:prSet presAssocID="{44352C0E-9228-1D41-9AC7-630454862AAB}" presName="ParentText" presStyleLbl="node1" presStyleIdx="4" presStyleCnt="6">
        <dgm:presLayoutVars>
          <dgm:chMax val="1"/>
          <dgm:chPref val="1"/>
          <dgm:bulletEnabled val="1"/>
        </dgm:presLayoutVars>
      </dgm:prSet>
      <dgm:spPr/>
    </dgm:pt>
    <dgm:pt modelId="{4D72B732-04CC-5F4B-8E9C-09245727D3B9}" type="pres">
      <dgm:prSet presAssocID="{44352C0E-9228-1D41-9AC7-630454862AAB}" presName="ChildText" presStyleLbl="revTx" presStyleIdx="4" presStyleCnt="6" custScaleX="210506" custLinFactNeighborX="54588">
        <dgm:presLayoutVars>
          <dgm:chMax val="0"/>
          <dgm:chPref val="0"/>
          <dgm:bulletEnabled val="1"/>
        </dgm:presLayoutVars>
      </dgm:prSet>
      <dgm:spPr/>
    </dgm:pt>
    <dgm:pt modelId="{6EA532CE-6739-A24B-AAAE-6A1691A35034}" type="pres">
      <dgm:prSet presAssocID="{D2AC5C65-A520-AE49-8D76-EE23E4A07C4A}" presName="sibTrans" presStyleCnt="0"/>
      <dgm:spPr/>
    </dgm:pt>
    <dgm:pt modelId="{658BC9F3-2A00-F547-8C78-511B7194FAEB}" type="pres">
      <dgm:prSet presAssocID="{251E4A29-F563-D34A-A9F7-27833A2BC30D}" presName="composite" presStyleCnt="0"/>
      <dgm:spPr/>
    </dgm:pt>
    <dgm:pt modelId="{9CCCECD5-8ED0-AC43-9710-1DD092099D67}" type="pres">
      <dgm:prSet presAssocID="{251E4A29-F563-D34A-A9F7-27833A2BC30D}" presName="ParentText" presStyleLbl="node1" presStyleIdx="5" presStyleCnt="6">
        <dgm:presLayoutVars>
          <dgm:chMax val="1"/>
          <dgm:chPref val="1"/>
          <dgm:bulletEnabled val="1"/>
        </dgm:presLayoutVars>
      </dgm:prSet>
      <dgm:spPr/>
    </dgm:pt>
    <dgm:pt modelId="{D3853491-2B6C-1449-B71D-8247E1F629BF}" type="pres">
      <dgm:prSet presAssocID="{251E4A29-F563-D34A-A9F7-27833A2BC30D}" presName="FinalChildText" presStyleLbl="revTx" presStyleIdx="5" presStyleCnt="6" custScaleX="147605" custLinFactNeighborX="24471" custLinFactNeighborY="1210">
        <dgm:presLayoutVars>
          <dgm:chMax val="0"/>
          <dgm:chPref val="0"/>
          <dgm:bulletEnabled val="1"/>
        </dgm:presLayoutVars>
      </dgm:prSet>
      <dgm:spPr/>
    </dgm:pt>
  </dgm:ptLst>
  <dgm:cxnLst>
    <dgm:cxn modelId="{69DAFA03-0878-9247-9AF4-F13FE4FF5D9B}" srcId="{63672145-F932-0941-9207-6FD21631945F}" destId="{6469F03D-EC0D-E14C-9147-635163E16719}" srcOrd="0" destOrd="0" parTransId="{31D6F60D-A7D1-C54D-964D-3B8790B82FA4}" sibTransId="{DCECCFCD-FFA0-2B4E-8620-4D260FCCA4E0}"/>
    <dgm:cxn modelId="{1CB6C709-502E-8E44-80CB-B4138F9C85B8}" type="presOf" srcId="{CB6CE777-E645-594F-9F72-31FA50915471}" destId="{13263DF5-F771-E44D-A3A6-7359AB5A694B}" srcOrd="0" destOrd="0" presId="urn:microsoft.com/office/officeart/2005/8/layout/StepDownProcess"/>
    <dgm:cxn modelId="{C4FEA40D-24EF-084F-959C-D30F2BA028D3}" type="presOf" srcId="{26B4761A-8722-154A-9A4E-6B2E8309550C}" destId="{1A27501D-E342-BE40-9448-5C65451E51A0}" srcOrd="0" destOrd="0" presId="urn:microsoft.com/office/officeart/2005/8/layout/StepDownProcess"/>
    <dgm:cxn modelId="{3CBBF823-4682-A649-AD39-366A0823CC07}" srcId="{92AF2611-4B58-ED43-AC9F-B952F610F406}" destId="{26B4761A-8722-154A-9A4E-6B2E8309550C}" srcOrd="0" destOrd="0" parTransId="{19278814-36C8-0643-9FFA-66C8A44E8EEC}" sibTransId="{B2DCC36A-7A1A-4C4F-90DA-FAE4C97E6C7D}"/>
    <dgm:cxn modelId="{75B1AC24-2247-418E-917B-87CFE3A11370}" type="presOf" srcId="{CA627FEB-5C4C-4C51-8A75-FEFCA4466D7B}" destId="{849E87F9-77C2-E148-A125-B75B32BAE82F}" srcOrd="0" destOrd="0" presId="urn:microsoft.com/office/officeart/2005/8/layout/StepDownProcess"/>
    <dgm:cxn modelId="{9AF40E27-2800-9B4C-8D69-CAB8B8A8A099}" type="presOf" srcId="{251E4A29-F563-D34A-A9F7-27833A2BC30D}" destId="{9CCCECD5-8ED0-AC43-9710-1DD092099D67}" srcOrd="0" destOrd="0" presId="urn:microsoft.com/office/officeart/2005/8/layout/StepDownProcess"/>
    <dgm:cxn modelId="{3038282E-24E0-754A-9BCA-5EB4B0881EBE}" type="presOf" srcId="{16F9E631-8BA3-154F-A6E6-07CA57FBC2DB}" destId="{7176A5BC-3282-044F-8AE1-17BEE6013828}" srcOrd="0" destOrd="0" presId="urn:microsoft.com/office/officeart/2005/8/layout/StepDownProcess"/>
    <dgm:cxn modelId="{7F3F2935-1376-434A-B6E9-CEA12E0D559A}" srcId="{44352C0E-9228-1D41-9AC7-630454862AAB}" destId="{B761BE11-3B98-534C-8389-3D511BB432FF}" srcOrd="0" destOrd="0" parTransId="{53F8C2F9-90C5-F04A-B13E-59A7DBEEB722}" sibTransId="{1CFC13B1-0710-8745-A251-B44B9B630299}"/>
    <dgm:cxn modelId="{112C4A37-BD1F-0D4F-8BDF-AF61C42AA624}" srcId="{92AF2611-4B58-ED43-AC9F-B952F610F406}" destId="{63672145-F932-0941-9207-6FD21631945F}" srcOrd="2" destOrd="0" parTransId="{DA9256D3-306A-2647-A641-4B0B371AA471}" sibTransId="{EE4E87B9-A6F7-D040-A8C9-2B94C61F8F15}"/>
    <dgm:cxn modelId="{D8BB2438-DD45-0A49-8E75-A834C7834329}" type="presOf" srcId="{92AF2611-4B58-ED43-AC9F-B952F610F406}" destId="{49E2B0A6-6F15-3D4D-BF88-D0B2483CB55B}" srcOrd="0" destOrd="0" presId="urn:microsoft.com/office/officeart/2005/8/layout/StepDownProcess"/>
    <dgm:cxn modelId="{23FA6D3C-5F88-8E47-BDA9-BDE6C1BC6D58}" type="presOf" srcId="{712C06CF-58B4-8F4A-A1C3-18737522BAA5}" destId="{7F2F534D-82F4-5443-8CF7-5BBA47CF0517}" srcOrd="0" destOrd="0" presId="urn:microsoft.com/office/officeart/2005/8/layout/StepDownProcess"/>
    <dgm:cxn modelId="{90051663-645C-6042-B826-BF1BEE404513}" type="presOf" srcId="{63672145-F932-0941-9207-6FD21631945F}" destId="{8AD4400A-F79C-8A4B-829B-0D720ED8FB8C}" srcOrd="0" destOrd="0" presId="urn:microsoft.com/office/officeart/2005/8/layout/StepDownProcess"/>
    <dgm:cxn modelId="{63981E6F-3BAE-44DB-B56D-A083004F0014}" type="presOf" srcId="{05C01FBF-0839-B840-AA40-B5D4B5EF9464}" destId="{D3853491-2B6C-1449-B71D-8247E1F629BF}" srcOrd="0" destOrd="0" presId="urn:microsoft.com/office/officeart/2005/8/layout/StepDownProcess"/>
    <dgm:cxn modelId="{016D9485-956C-624D-A592-DDA4E4AA6CC5}" srcId="{92AF2611-4B58-ED43-AC9F-B952F610F406}" destId="{44352C0E-9228-1D41-9AC7-630454862AAB}" srcOrd="4" destOrd="0" parTransId="{BB03014B-614B-4E4D-B179-22BF96D1FDA5}" sibTransId="{D2AC5C65-A520-AE49-8D76-EE23E4A07C4A}"/>
    <dgm:cxn modelId="{E336EE89-5EC2-AE4C-81C9-2EBDE6E482D4}" srcId="{92AF2611-4B58-ED43-AC9F-B952F610F406}" destId="{251E4A29-F563-D34A-A9F7-27833A2BC30D}" srcOrd="5" destOrd="0" parTransId="{B9E7D4BF-66C0-D046-BA68-7E24F4AB0843}" sibTransId="{57ED735E-B5D2-C749-867E-EB96611C0B8B}"/>
    <dgm:cxn modelId="{11A1E58A-ABF6-BE4D-91F0-325BCF38FC72}" type="presOf" srcId="{6469F03D-EC0D-E14C-9147-635163E16719}" destId="{383D977E-49FE-154D-8370-6E0B15881094}" srcOrd="0" destOrd="0" presId="urn:microsoft.com/office/officeart/2005/8/layout/StepDownProcess"/>
    <dgm:cxn modelId="{15010B8E-8FC6-034B-A7AD-F331240F7012}" srcId="{92AF2611-4B58-ED43-AC9F-B952F610F406}" destId="{180ED30E-9BB7-2945-8E67-38EC3B69034A}" srcOrd="3" destOrd="0" parTransId="{CCFA8DD9-517C-4C48-9ACE-EAEC7B4B1D8D}" sibTransId="{9581D7FD-E2E0-0241-80C7-1BF3EEF3518C}"/>
    <dgm:cxn modelId="{570398A5-7B9B-684E-836B-828C67CE95B5}" srcId="{251E4A29-F563-D34A-A9F7-27833A2BC30D}" destId="{05C01FBF-0839-B840-AA40-B5D4B5EF9464}" srcOrd="0" destOrd="0" parTransId="{4292C26E-910E-F242-B4EA-85C15677A931}" sibTransId="{9CE79F6D-8C8B-134E-870B-A3814A161031}"/>
    <dgm:cxn modelId="{552A83B2-FDAE-E143-BB66-928925B322B7}" srcId="{180ED30E-9BB7-2945-8E67-38EC3B69034A}" destId="{712C06CF-58B4-8F4A-A1C3-18737522BAA5}" srcOrd="0" destOrd="0" parTransId="{00A2F76A-F4C8-F042-BC58-5B28B1FEF030}" sibTransId="{F7A6ECC7-ED92-634B-B481-4D7D62B796B5}"/>
    <dgm:cxn modelId="{84262DD1-54DB-8D42-9C16-B543B3BB3374}" srcId="{26B4761A-8722-154A-9A4E-6B2E8309550C}" destId="{CB6CE777-E645-594F-9F72-31FA50915471}" srcOrd="0" destOrd="0" parTransId="{A3FA10DA-B8BC-6B42-A66B-27F9CED77F23}" sibTransId="{F64EEB12-0851-6B4F-BF84-33083DA26F4B}"/>
    <dgm:cxn modelId="{EA665ADD-A5EF-844A-8B63-2D7ECC046504}" type="presOf" srcId="{44352C0E-9228-1D41-9AC7-630454862AAB}" destId="{2642E532-D17B-8549-B299-BABD4A6DF310}" srcOrd="0" destOrd="0" presId="urn:microsoft.com/office/officeart/2005/8/layout/StepDownProcess"/>
    <dgm:cxn modelId="{8716AEE2-5EF1-42C9-B2C6-5BB2852185DF}" srcId="{16F9E631-8BA3-154F-A6E6-07CA57FBC2DB}" destId="{CA627FEB-5C4C-4C51-8A75-FEFCA4466D7B}" srcOrd="0" destOrd="0" parTransId="{312DFEE4-A0BE-4287-98A9-69EE828C53A8}" sibTransId="{C867BD04-E42D-4E36-9651-FF055F4AF5F0}"/>
    <dgm:cxn modelId="{5D2F70F4-D4C2-FD4A-B54D-45A310324ADC}" srcId="{92AF2611-4B58-ED43-AC9F-B952F610F406}" destId="{16F9E631-8BA3-154F-A6E6-07CA57FBC2DB}" srcOrd="1" destOrd="0" parTransId="{4BAA8D80-E90A-6945-90C2-16CAFC77FA6F}" sibTransId="{40437896-D1C0-9744-812A-639F6C127825}"/>
    <dgm:cxn modelId="{634270FB-D54E-9B40-B519-40B9861B65C3}" type="presOf" srcId="{B761BE11-3B98-534C-8389-3D511BB432FF}" destId="{4D72B732-04CC-5F4B-8E9C-09245727D3B9}" srcOrd="0" destOrd="0" presId="urn:microsoft.com/office/officeart/2005/8/layout/StepDownProcess"/>
    <dgm:cxn modelId="{553CD0FD-F2FB-3140-8551-691D85FC1D01}" type="presOf" srcId="{180ED30E-9BB7-2945-8E67-38EC3B69034A}" destId="{8D80E448-C06F-8440-B08E-C700B7FCCC29}" srcOrd="0" destOrd="0" presId="urn:microsoft.com/office/officeart/2005/8/layout/StepDownProcess"/>
    <dgm:cxn modelId="{CAA58818-923B-6242-9847-11CD1A086880}" type="presParOf" srcId="{49E2B0A6-6F15-3D4D-BF88-D0B2483CB55B}" destId="{E975EE4B-D42E-E84D-8A4A-2906A98D9890}" srcOrd="0" destOrd="0" presId="urn:microsoft.com/office/officeart/2005/8/layout/StepDownProcess"/>
    <dgm:cxn modelId="{D0DD2577-622D-2948-8D96-837600176068}" type="presParOf" srcId="{E975EE4B-D42E-E84D-8A4A-2906A98D9890}" destId="{FC8198D2-B811-F543-848D-08253013A363}" srcOrd="0" destOrd="0" presId="urn:microsoft.com/office/officeart/2005/8/layout/StepDownProcess"/>
    <dgm:cxn modelId="{8328243B-B6DB-724C-8C50-F098B7AAF6D6}" type="presParOf" srcId="{E975EE4B-D42E-E84D-8A4A-2906A98D9890}" destId="{1A27501D-E342-BE40-9448-5C65451E51A0}" srcOrd="1" destOrd="0" presId="urn:microsoft.com/office/officeart/2005/8/layout/StepDownProcess"/>
    <dgm:cxn modelId="{A0EEA3E4-28F5-9347-B752-8F465E17DB0E}" type="presParOf" srcId="{E975EE4B-D42E-E84D-8A4A-2906A98D9890}" destId="{13263DF5-F771-E44D-A3A6-7359AB5A694B}" srcOrd="2" destOrd="0" presId="urn:microsoft.com/office/officeart/2005/8/layout/StepDownProcess"/>
    <dgm:cxn modelId="{47F02AFF-9AD0-A041-B89E-95A3ABC44E39}" type="presParOf" srcId="{49E2B0A6-6F15-3D4D-BF88-D0B2483CB55B}" destId="{1405AD88-5681-5740-8B0F-785D5C4C54E3}" srcOrd="1" destOrd="0" presId="urn:microsoft.com/office/officeart/2005/8/layout/StepDownProcess"/>
    <dgm:cxn modelId="{CC26F27A-2F31-7B4F-A3D5-F58113FB0928}" type="presParOf" srcId="{49E2B0A6-6F15-3D4D-BF88-D0B2483CB55B}" destId="{876C9C10-85C7-794D-BECA-7E6B3040BD5B}" srcOrd="2" destOrd="0" presId="urn:microsoft.com/office/officeart/2005/8/layout/StepDownProcess"/>
    <dgm:cxn modelId="{D59FA65B-1A0F-1E47-B691-93027AEC90BA}" type="presParOf" srcId="{876C9C10-85C7-794D-BECA-7E6B3040BD5B}" destId="{7249723C-E4C0-8E4E-9876-FECBD8EB4088}" srcOrd="0" destOrd="0" presId="urn:microsoft.com/office/officeart/2005/8/layout/StepDownProcess"/>
    <dgm:cxn modelId="{51EB45CC-B96D-5D43-AF1B-84E3B2B8AED1}" type="presParOf" srcId="{876C9C10-85C7-794D-BECA-7E6B3040BD5B}" destId="{7176A5BC-3282-044F-8AE1-17BEE6013828}" srcOrd="1" destOrd="0" presId="urn:microsoft.com/office/officeart/2005/8/layout/StepDownProcess"/>
    <dgm:cxn modelId="{5CEB0EC2-0F54-B24C-B1F0-0B003EF1C5A2}" type="presParOf" srcId="{876C9C10-85C7-794D-BECA-7E6B3040BD5B}" destId="{849E87F9-77C2-E148-A125-B75B32BAE82F}" srcOrd="2" destOrd="0" presId="urn:microsoft.com/office/officeart/2005/8/layout/StepDownProcess"/>
    <dgm:cxn modelId="{D6478E3B-05EF-9646-A75F-F4ED66F49E38}" type="presParOf" srcId="{49E2B0A6-6F15-3D4D-BF88-D0B2483CB55B}" destId="{A7334212-A42F-5947-B178-28EE2431D98C}" srcOrd="3" destOrd="0" presId="urn:microsoft.com/office/officeart/2005/8/layout/StepDownProcess"/>
    <dgm:cxn modelId="{23FBC6FD-CDBE-FA4C-8441-E7B27BF05A51}" type="presParOf" srcId="{49E2B0A6-6F15-3D4D-BF88-D0B2483CB55B}" destId="{797595AA-82E7-9A45-818A-CBFC19FC01B4}" srcOrd="4" destOrd="0" presId="urn:microsoft.com/office/officeart/2005/8/layout/StepDownProcess"/>
    <dgm:cxn modelId="{145F56CF-4320-FE4F-8156-055F9762B34B}" type="presParOf" srcId="{797595AA-82E7-9A45-818A-CBFC19FC01B4}" destId="{582A57C3-E208-4C4D-8464-8F41E2B621E9}" srcOrd="0" destOrd="0" presId="urn:microsoft.com/office/officeart/2005/8/layout/StepDownProcess"/>
    <dgm:cxn modelId="{45C34818-F1AF-F649-A01C-A6D8DD6977AD}" type="presParOf" srcId="{797595AA-82E7-9A45-818A-CBFC19FC01B4}" destId="{8AD4400A-F79C-8A4B-829B-0D720ED8FB8C}" srcOrd="1" destOrd="0" presId="urn:microsoft.com/office/officeart/2005/8/layout/StepDownProcess"/>
    <dgm:cxn modelId="{FF01D02D-F3EF-2B41-B125-417E412F83BB}" type="presParOf" srcId="{797595AA-82E7-9A45-818A-CBFC19FC01B4}" destId="{383D977E-49FE-154D-8370-6E0B15881094}" srcOrd="2" destOrd="0" presId="urn:microsoft.com/office/officeart/2005/8/layout/StepDownProcess"/>
    <dgm:cxn modelId="{A608A5D7-E92F-3241-8C20-975A35A4E8FD}" type="presParOf" srcId="{49E2B0A6-6F15-3D4D-BF88-D0B2483CB55B}" destId="{51D4CC9D-D22F-A045-9B1F-02AFD777BA4F}" srcOrd="5" destOrd="0" presId="urn:microsoft.com/office/officeart/2005/8/layout/StepDownProcess"/>
    <dgm:cxn modelId="{B7ED08C4-F562-F343-AE8C-1411DA99F4EB}" type="presParOf" srcId="{49E2B0A6-6F15-3D4D-BF88-D0B2483CB55B}" destId="{9B1BB91C-DFAA-BB42-8883-6C779B3E0CC7}" srcOrd="6" destOrd="0" presId="urn:microsoft.com/office/officeart/2005/8/layout/StepDownProcess"/>
    <dgm:cxn modelId="{A5A50A0E-B79B-C34C-ADC7-C80B5C746A06}" type="presParOf" srcId="{9B1BB91C-DFAA-BB42-8883-6C779B3E0CC7}" destId="{97925E51-E8AA-DC48-BFEB-51206266AB1D}" srcOrd="0" destOrd="0" presId="urn:microsoft.com/office/officeart/2005/8/layout/StepDownProcess"/>
    <dgm:cxn modelId="{7C19BC84-CC29-EF4A-BC81-B1BE7CAADD4B}" type="presParOf" srcId="{9B1BB91C-DFAA-BB42-8883-6C779B3E0CC7}" destId="{8D80E448-C06F-8440-B08E-C700B7FCCC29}" srcOrd="1" destOrd="0" presId="urn:microsoft.com/office/officeart/2005/8/layout/StepDownProcess"/>
    <dgm:cxn modelId="{4C51BF22-07FD-FA4A-B14F-9FA0B702E5DB}" type="presParOf" srcId="{9B1BB91C-DFAA-BB42-8883-6C779B3E0CC7}" destId="{7F2F534D-82F4-5443-8CF7-5BBA47CF0517}" srcOrd="2" destOrd="0" presId="urn:microsoft.com/office/officeart/2005/8/layout/StepDownProcess"/>
    <dgm:cxn modelId="{729F0557-5384-6B4B-86BF-CDDE5C1D202F}" type="presParOf" srcId="{49E2B0A6-6F15-3D4D-BF88-D0B2483CB55B}" destId="{CD6671F9-E0CD-EF49-94DC-C96CAC8CC7E3}" srcOrd="7" destOrd="0" presId="urn:microsoft.com/office/officeart/2005/8/layout/StepDownProcess"/>
    <dgm:cxn modelId="{36E3AD21-65D7-B24C-B4D3-B7520133DB1C}" type="presParOf" srcId="{49E2B0A6-6F15-3D4D-BF88-D0B2483CB55B}" destId="{E13DFC65-0620-5546-9284-95854B643695}" srcOrd="8" destOrd="0" presId="urn:microsoft.com/office/officeart/2005/8/layout/StepDownProcess"/>
    <dgm:cxn modelId="{DD62FE2A-BC28-3E4D-BD4E-F24534EEBE0F}" type="presParOf" srcId="{E13DFC65-0620-5546-9284-95854B643695}" destId="{7EA63742-38C6-7343-AA79-52C3D9CCAB0D}" srcOrd="0" destOrd="0" presId="urn:microsoft.com/office/officeart/2005/8/layout/StepDownProcess"/>
    <dgm:cxn modelId="{75CB6DD7-E609-FF41-BFDA-AA78B1AF772C}" type="presParOf" srcId="{E13DFC65-0620-5546-9284-95854B643695}" destId="{2642E532-D17B-8549-B299-BABD4A6DF310}" srcOrd="1" destOrd="0" presId="urn:microsoft.com/office/officeart/2005/8/layout/StepDownProcess"/>
    <dgm:cxn modelId="{2D895992-0610-7847-8717-588D1860CD72}" type="presParOf" srcId="{E13DFC65-0620-5546-9284-95854B643695}" destId="{4D72B732-04CC-5F4B-8E9C-09245727D3B9}" srcOrd="2" destOrd="0" presId="urn:microsoft.com/office/officeart/2005/8/layout/StepDownProcess"/>
    <dgm:cxn modelId="{317597CB-5F05-5C46-8E98-608B8CB7DEA7}" type="presParOf" srcId="{49E2B0A6-6F15-3D4D-BF88-D0B2483CB55B}" destId="{6EA532CE-6739-A24B-AAAE-6A1691A35034}" srcOrd="9" destOrd="0" presId="urn:microsoft.com/office/officeart/2005/8/layout/StepDownProcess"/>
    <dgm:cxn modelId="{07B25F14-FD1D-C644-863E-76AE9B1DE37A}" type="presParOf" srcId="{49E2B0A6-6F15-3D4D-BF88-D0B2483CB55B}" destId="{658BC9F3-2A00-F547-8C78-511B7194FAEB}" srcOrd="10" destOrd="0" presId="urn:microsoft.com/office/officeart/2005/8/layout/StepDownProcess"/>
    <dgm:cxn modelId="{B023C484-9503-1F4F-8378-A4C3B820ACFA}" type="presParOf" srcId="{658BC9F3-2A00-F547-8C78-511B7194FAEB}" destId="{9CCCECD5-8ED0-AC43-9710-1DD092099D67}" srcOrd="0" destOrd="0" presId="urn:microsoft.com/office/officeart/2005/8/layout/StepDownProcess"/>
    <dgm:cxn modelId="{223E57CC-DC7E-483C-B9ED-63C99E899EA7}" type="presParOf" srcId="{658BC9F3-2A00-F547-8C78-511B7194FAEB}" destId="{D3853491-2B6C-1449-B71D-8247E1F629BF}"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8198D2-B811-F543-848D-08253013A363}">
      <dsp:nvSpPr>
        <dsp:cNvPr id="0" name=""/>
        <dsp:cNvSpPr/>
      </dsp:nvSpPr>
      <dsp:spPr>
        <a:xfrm rot="5400000">
          <a:off x="1033738" y="703706"/>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A27501D-E342-BE40-9448-5C65451E51A0}">
      <dsp:nvSpPr>
        <dsp:cNvPr id="0" name=""/>
        <dsp:cNvSpPr/>
      </dsp:nvSpPr>
      <dsp:spPr>
        <a:xfrm>
          <a:off x="873256" y="32238"/>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rPr>
            <a:t>Abstract Submission</a:t>
          </a:r>
        </a:p>
      </dsp:txBody>
      <dsp:txXfrm>
        <a:off x="908105" y="67087"/>
        <a:ext cx="950000" cy="644058"/>
      </dsp:txXfrm>
    </dsp:sp>
    <dsp:sp modelId="{13263DF5-F771-E44D-A3A6-7359AB5A694B}">
      <dsp:nvSpPr>
        <dsp:cNvPr id="0" name=""/>
        <dsp:cNvSpPr/>
      </dsp:nvSpPr>
      <dsp:spPr>
        <a:xfrm>
          <a:off x="1937493" y="91346"/>
          <a:ext cx="1477308"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444500" rtl="0">
            <a:lnSpc>
              <a:spcPct val="90000"/>
            </a:lnSpc>
            <a:spcBef>
              <a:spcPct val="0"/>
            </a:spcBef>
            <a:spcAft>
              <a:spcPct val="15000"/>
            </a:spcAft>
            <a:buChar char="•"/>
          </a:pPr>
          <a:r>
            <a:rPr lang="en-US" sz="1000" kern="1200">
              <a:solidFill>
                <a:schemeClr val="tx1"/>
              </a:solidFill>
              <a:latin typeface="Helvetica"/>
              <a:cs typeface="Helvetica"/>
            </a:rPr>
            <a:t>20th July 2025</a:t>
          </a:r>
          <a:endParaRPr lang="en-US" sz="1000" kern="1200">
            <a:solidFill>
              <a:schemeClr val="tx1"/>
            </a:solidFill>
          </a:endParaRPr>
        </a:p>
      </dsp:txBody>
      <dsp:txXfrm>
        <a:off x="1937493" y="91346"/>
        <a:ext cx="1477308" cy="576889"/>
      </dsp:txXfrm>
    </dsp:sp>
    <dsp:sp modelId="{7249723C-E4C0-8E4E-9876-FECBD8EB4088}">
      <dsp:nvSpPr>
        <dsp:cNvPr id="0" name=""/>
        <dsp:cNvSpPr/>
      </dsp:nvSpPr>
      <dsp:spPr>
        <a:xfrm rot="5400000">
          <a:off x="2055740" y="1505490"/>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76A5BC-3282-044F-8AE1-17BEE6013828}">
      <dsp:nvSpPr>
        <dsp:cNvPr id="0" name=""/>
        <dsp:cNvSpPr/>
      </dsp:nvSpPr>
      <dsp:spPr>
        <a:xfrm>
          <a:off x="1895257" y="834022"/>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rPr>
            <a:t>Literature Survey</a:t>
          </a:r>
        </a:p>
      </dsp:txBody>
      <dsp:txXfrm>
        <a:off x="1930106" y="868871"/>
        <a:ext cx="950000" cy="644058"/>
      </dsp:txXfrm>
    </dsp:sp>
    <dsp:sp modelId="{849E87F9-77C2-E148-A125-B75B32BAE82F}">
      <dsp:nvSpPr>
        <dsp:cNvPr id="0" name=""/>
        <dsp:cNvSpPr/>
      </dsp:nvSpPr>
      <dsp:spPr>
        <a:xfrm>
          <a:off x="2907495" y="893130"/>
          <a:ext cx="1816716"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66725" rtl="0">
            <a:lnSpc>
              <a:spcPct val="90000"/>
            </a:lnSpc>
            <a:spcBef>
              <a:spcPct val="0"/>
            </a:spcBef>
            <a:spcAft>
              <a:spcPct val="15000"/>
            </a:spcAft>
            <a:buChar char="•"/>
          </a:pPr>
          <a:r>
            <a:rPr lang="en-US" sz="1050" kern="1200">
              <a:solidFill>
                <a:schemeClr val="tx1"/>
              </a:solidFill>
              <a:latin typeface="Helvetica"/>
              <a:cs typeface="Helvetica"/>
            </a:rPr>
            <a:t>6ht August 2025</a:t>
          </a:r>
          <a:endParaRPr lang="en-US" sz="1050" kern="1200">
            <a:solidFill>
              <a:schemeClr val="tx1"/>
            </a:solidFill>
          </a:endParaRPr>
        </a:p>
      </dsp:txBody>
      <dsp:txXfrm>
        <a:off x="2907495" y="893130"/>
        <a:ext cx="1816716" cy="576889"/>
      </dsp:txXfrm>
    </dsp:sp>
    <dsp:sp modelId="{582A57C3-E208-4C4D-8464-8F41E2B621E9}">
      <dsp:nvSpPr>
        <dsp:cNvPr id="0" name=""/>
        <dsp:cNvSpPr/>
      </dsp:nvSpPr>
      <dsp:spPr>
        <a:xfrm rot="5400000">
          <a:off x="3077741" y="2307273"/>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D4400A-F79C-8A4B-829B-0D720ED8FB8C}">
      <dsp:nvSpPr>
        <dsp:cNvPr id="0" name=""/>
        <dsp:cNvSpPr/>
      </dsp:nvSpPr>
      <dsp:spPr>
        <a:xfrm>
          <a:off x="2917258" y="1635806"/>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rPr>
            <a:t>Design [Front End, Back End]</a:t>
          </a:r>
        </a:p>
      </dsp:txBody>
      <dsp:txXfrm>
        <a:off x="2952107" y="1670655"/>
        <a:ext cx="950000" cy="644058"/>
      </dsp:txXfrm>
    </dsp:sp>
    <dsp:sp modelId="{383D977E-49FE-154D-8370-6E0B15881094}">
      <dsp:nvSpPr>
        <dsp:cNvPr id="0" name=""/>
        <dsp:cNvSpPr/>
      </dsp:nvSpPr>
      <dsp:spPr>
        <a:xfrm>
          <a:off x="3933215" y="1703878"/>
          <a:ext cx="1656531"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88950" rtl="0">
            <a:lnSpc>
              <a:spcPct val="90000"/>
            </a:lnSpc>
            <a:spcBef>
              <a:spcPct val="0"/>
            </a:spcBef>
            <a:spcAft>
              <a:spcPct val="15000"/>
            </a:spcAft>
            <a:buChar char="•"/>
          </a:pPr>
          <a:r>
            <a:rPr lang="en-US" sz="1100" kern="1200">
              <a:solidFill>
                <a:schemeClr val="tx1"/>
              </a:solidFill>
              <a:latin typeface="Helvetica"/>
              <a:cs typeface="Helvetica"/>
            </a:rPr>
            <a:t>3rd October 2025</a:t>
          </a:r>
          <a:endParaRPr lang="en-US" sz="1100" kern="1200">
            <a:solidFill>
              <a:schemeClr val="tx1"/>
            </a:solidFill>
          </a:endParaRPr>
        </a:p>
      </dsp:txBody>
      <dsp:txXfrm>
        <a:off x="3933215" y="1703878"/>
        <a:ext cx="1656531" cy="576889"/>
      </dsp:txXfrm>
    </dsp:sp>
    <dsp:sp modelId="{97925E51-E8AA-DC48-BFEB-51206266AB1D}">
      <dsp:nvSpPr>
        <dsp:cNvPr id="0" name=""/>
        <dsp:cNvSpPr/>
      </dsp:nvSpPr>
      <dsp:spPr>
        <a:xfrm rot="5400000">
          <a:off x="4099742" y="3109057"/>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80E448-C06F-8440-B08E-C700B7FCCC29}">
      <dsp:nvSpPr>
        <dsp:cNvPr id="0" name=""/>
        <dsp:cNvSpPr/>
      </dsp:nvSpPr>
      <dsp:spPr>
        <a:xfrm>
          <a:off x="3939259" y="2437589"/>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rPr>
            <a:t>Implementation</a:t>
          </a:r>
        </a:p>
      </dsp:txBody>
      <dsp:txXfrm>
        <a:off x="3974108" y="2472438"/>
        <a:ext cx="950000" cy="644058"/>
      </dsp:txXfrm>
    </dsp:sp>
    <dsp:sp modelId="{7F2F534D-82F4-5443-8CF7-5BBA47CF0517}">
      <dsp:nvSpPr>
        <dsp:cNvPr id="0" name=""/>
        <dsp:cNvSpPr/>
      </dsp:nvSpPr>
      <dsp:spPr>
        <a:xfrm>
          <a:off x="5020944" y="2505662"/>
          <a:ext cx="1608851"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ctr" anchorCtr="0">
          <a:noAutofit/>
        </a:bodyPr>
        <a:lstStyle/>
        <a:p>
          <a:pPr marL="57150" lvl="1" indent="-57150" algn="l" defTabSz="488950" rtl="0">
            <a:lnSpc>
              <a:spcPct val="90000"/>
            </a:lnSpc>
            <a:spcBef>
              <a:spcPct val="0"/>
            </a:spcBef>
            <a:spcAft>
              <a:spcPct val="15000"/>
            </a:spcAft>
            <a:buChar char="•"/>
          </a:pPr>
          <a:r>
            <a:rPr lang="en-US" sz="1100" kern="1200">
              <a:solidFill>
                <a:schemeClr val="tx1"/>
              </a:solidFill>
              <a:latin typeface="Helvetica"/>
              <a:cs typeface="Helvetica"/>
            </a:rPr>
            <a:t>20th December 2025</a:t>
          </a:r>
          <a:endParaRPr lang="en-US" sz="1100" kern="1200">
            <a:solidFill>
              <a:schemeClr val="tx1"/>
            </a:solidFill>
          </a:endParaRPr>
        </a:p>
      </dsp:txBody>
      <dsp:txXfrm>
        <a:off x="5020944" y="2505662"/>
        <a:ext cx="1608851" cy="576889"/>
      </dsp:txXfrm>
    </dsp:sp>
    <dsp:sp modelId="{7EA63742-38C6-7343-AA79-52C3D9CCAB0D}">
      <dsp:nvSpPr>
        <dsp:cNvPr id="0" name=""/>
        <dsp:cNvSpPr/>
      </dsp:nvSpPr>
      <dsp:spPr>
        <a:xfrm rot="5400000">
          <a:off x="5121743" y="3910841"/>
          <a:ext cx="605733" cy="689606"/>
        </a:xfrm>
        <a:prstGeom prst="bentUpArrow">
          <a:avLst>
            <a:gd name="adj1" fmla="val 32840"/>
            <a:gd name="adj2" fmla="val 25000"/>
            <a:gd name="adj3" fmla="val 35780"/>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42E532-D17B-8549-B299-BABD4A6DF310}">
      <dsp:nvSpPr>
        <dsp:cNvPr id="0" name=""/>
        <dsp:cNvSpPr/>
      </dsp:nvSpPr>
      <dsp:spPr>
        <a:xfrm>
          <a:off x="4961260" y="3239373"/>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rPr>
            <a:t>Testing</a:t>
          </a:r>
        </a:p>
      </dsp:txBody>
      <dsp:txXfrm>
        <a:off x="4996109" y="3274222"/>
        <a:ext cx="950000" cy="644058"/>
      </dsp:txXfrm>
    </dsp:sp>
    <dsp:sp modelId="{4D72B732-04CC-5F4B-8E9C-09245727D3B9}">
      <dsp:nvSpPr>
        <dsp:cNvPr id="0" name=""/>
        <dsp:cNvSpPr/>
      </dsp:nvSpPr>
      <dsp:spPr>
        <a:xfrm>
          <a:off x="5976027" y="3307446"/>
          <a:ext cx="1561179"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444500" rtl="0">
            <a:lnSpc>
              <a:spcPct val="90000"/>
            </a:lnSpc>
            <a:spcBef>
              <a:spcPct val="0"/>
            </a:spcBef>
            <a:spcAft>
              <a:spcPct val="15000"/>
            </a:spcAft>
            <a:buChar char="•"/>
          </a:pPr>
          <a:r>
            <a:rPr lang="en-US" sz="1000" kern="1200">
              <a:solidFill>
                <a:schemeClr val="tx1"/>
              </a:solidFill>
              <a:latin typeface="Helvetica"/>
              <a:cs typeface="Helvetica"/>
            </a:rPr>
            <a:t>25th January 2026</a:t>
          </a:r>
          <a:endParaRPr lang="en-US" sz="1000" kern="1200">
            <a:solidFill>
              <a:schemeClr val="tx1"/>
            </a:solidFill>
          </a:endParaRPr>
        </a:p>
      </dsp:txBody>
      <dsp:txXfrm>
        <a:off x="5976027" y="3307446"/>
        <a:ext cx="1561179" cy="576889"/>
      </dsp:txXfrm>
    </dsp:sp>
    <dsp:sp modelId="{9CCCECD5-8ED0-AC43-9710-1DD092099D67}">
      <dsp:nvSpPr>
        <dsp:cNvPr id="0" name=""/>
        <dsp:cNvSpPr/>
      </dsp:nvSpPr>
      <dsp:spPr>
        <a:xfrm>
          <a:off x="5983262" y="4041157"/>
          <a:ext cx="1019698" cy="713756"/>
        </a:xfrm>
        <a:prstGeom prst="roundRect">
          <a:avLst>
            <a:gd name="adj" fmla="val 1667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a:solidFill>
                <a:schemeClr val="tx1"/>
              </a:solidFill>
            </a:rPr>
            <a:t>Document Submission</a:t>
          </a:r>
        </a:p>
      </dsp:txBody>
      <dsp:txXfrm>
        <a:off x="6018111" y="4076006"/>
        <a:ext cx="950000" cy="644058"/>
      </dsp:txXfrm>
    </dsp:sp>
    <dsp:sp modelId="{D3853491-2B6C-1449-B71D-8247E1F629BF}">
      <dsp:nvSpPr>
        <dsp:cNvPr id="0" name=""/>
        <dsp:cNvSpPr/>
      </dsp:nvSpPr>
      <dsp:spPr>
        <a:xfrm>
          <a:off x="7007918" y="4116210"/>
          <a:ext cx="1094685" cy="576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57150" lvl="1" indent="-57150" algn="l" defTabSz="444500" rtl="0">
            <a:lnSpc>
              <a:spcPct val="90000"/>
            </a:lnSpc>
            <a:spcBef>
              <a:spcPct val="0"/>
            </a:spcBef>
            <a:spcAft>
              <a:spcPct val="15000"/>
            </a:spcAft>
            <a:buChar char="•"/>
          </a:pPr>
          <a:r>
            <a:rPr lang="en-US" sz="1000" kern="1200">
              <a:solidFill>
                <a:schemeClr val="tx1"/>
              </a:solidFill>
              <a:latin typeface="Helvetica"/>
              <a:cs typeface="Helvetica"/>
            </a:rPr>
            <a:t>15th February 2026</a:t>
          </a:r>
          <a:endParaRPr lang="en-US" sz="1000" kern="1200">
            <a:solidFill>
              <a:schemeClr val="tx1"/>
            </a:solidFill>
          </a:endParaRPr>
        </a:p>
      </dsp:txBody>
      <dsp:txXfrm>
        <a:off x="7007918" y="4116210"/>
        <a:ext cx="1094685" cy="576889"/>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1143000" y="685800"/>
            <a:ext cx="4572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2477739982"/>
      </p:ext>
    </p:extLst>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9_Default">
    <p:spTree>
      <p:nvGrpSpPr>
        <p:cNvPr id="1" name=""/>
        <p:cNvGrpSpPr/>
        <p:nvPr/>
      </p:nvGrpSpPr>
      <p:grpSpPr>
        <a:xfrm>
          <a:off x="0" y="0"/>
          <a:ext cx="0" cy="0"/>
          <a:chOff x="0" y="0"/>
          <a:chExt cx="0" cy="0"/>
        </a:xfrm>
      </p:grpSpPr>
      <p:sp>
        <p:nvSpPr>
          <p:cNvPr id="1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2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24"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25"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26"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2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3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3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37"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3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3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4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4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49"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5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5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59"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60"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61"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62"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63"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71"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72"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73"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74"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7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9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96"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97"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98"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9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0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pic>
        <p:nvPicPr>
          <p:cNvPr id="108" name="collegelogo" descr="collegelogo"/>
          <p:cNvPicPr>
            <a:picLocks noChangeAspect="1"/>
          </p:cNvPicPr>
          <p:nvPr/>
        </p:nvPicPr>
        <p:blipFill>
          <a:blip r:embed="rId2"/>
          <a:stretch>
            <a:fillRect/>
          </a:stretch>
        </p:blipFill>
        <p:spPr>
          <a:xfrm>
            <a:off x="381000" y="76200"/>
            <a:ext cx="792163" cy="914400"/>
          </a:xfrm>
          <a:prstGeom prst="rect">
            <a:avLst/>
          </a:prstGeom>
          <a:ln w="12700">
            <a:miter lim="400000"/>
          </a:ln>
        </p:spPr>
      </p:pic>
      <p:sp>
        <p:nvSpPr>
          <p:cNvPr id="109"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sp>
        <p:nvSpPr>
          <p:cNvPr id="110" name="Title Text"/>
          <p:cNvSpPr txBox="1">
            <a:spLocks noGrp="1"/>
          </p:cNvSpPr>
          <p:nvPr>
            <p:ph type="title"/>
          </p:nvPr>
        </p:nvSpPr>
        <p:spPr>
          <a:xfrm>
            <a:off x="990600" y="1371600"/>
            <a:ext cx="6858000" cy="808038"/>
          </a:xfrm>
          <a:prstGeom prst="rect">
            <a:avLst/>
          </a:prstGeom>
        </p:spPr>
        <p:txBody>
          <a:bodyPr>
            <a:normAutofit/>
          </a:bodyPr>
          <a:lstStyle/>
          <a:p>
            <a:r>
              <a:t>Title Text</a:t>
            </a:r>
          </a:p>
        </p:txBody>
      </p:sp>
      <p:sp>
        <p:nvSpPr>
          <p:cNvPr id="11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9" rIns="45719" anchor="ctr"/>
          <a:lstStyle/>
          <a:p>
            <a:pPr algn="ctr">
              <a:defRPr sz="2800">
                <a:solidFill>
                  <a:srgbClr val="0000FF"/>
                </a:solidFill>
                <a:latin typeface="+mn-lt"/>
                <a:ea typeface="+mn-ea"/>
                <a:cs typeface="+mn-cs"/>
                <a:sym typeface="Arial"/>
              </a:defRPr>
            </a:pPr>
            <a:endParaRPr/>
          </a:p>
        </p:txBody>
      </p:sp>
      <p:sp>
        <p:nvSpPr>
          <p:cNvPr id="3" name="Text"/>
          <p:cNvSpPr txBox="1"/>
          <p:nvPr/>
        </p:nvSpPr>
        <p:spPr>
          <a:xfrm>
            <a:off x="1264919" y="304800"/>
            <a:ext cx="6918961" cy="35066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800" b="1">
                <a:latin typeface="+mn-lt"/>
                <a:ea typeface="+mn-ea"/>
                <a:cs typeface="+mn-cs"/>
                <a:sym typeface="Arial"/>
              </a:defRPr>
            </a:lvl1pPr>
          </a:lstStyle>
          <a:p>
            <a:r>
              <a:t>                       </a:t>
            </a:r>
          </a:p>
        </p:txBody>
      </p:sp>
      <p:pic>
        <p:nvPicPr>
          <p:cNvPr id="4" name="image.png" descr="image.png"/>
          <p:cNvPicPr>
            <a:picLocks noChangeAspect="1"/>
          </p:cNvPicPr>
          <p:nvPr/>
        </p:nvPicPr>
        <p:blipFill>
          <a:blip r:embed="rId11"/>
          <a:stretch>
            <a:fillRect/>
          </a:stretch>
        </p:blipFill>
        <p:spPr>
          <a:xfrm>
            <a:off x="0" y="38100"/>
            <a:ext cx="1104900" cy="1104900"/>
          </a:xfrm>
          <a:prstGeom prst="rect">
            <a:avLst/>
          </a:prstGeom>
          <a:ln w="12700">
            <a:miter lim="400000"/>
          </a:ln>
        </p:spPr>
      </p:pic>
      <p:sp>
        <p:nvSpPr>
          <p:cNvPr id="5" name="Slide Number"/>
          <p:cNvSpPr txBox="1">
            <a:spLocks noGrp="1"/>
          </p:cNvSpPr>
          <p:nvPr>
            <p:ph type="sldNum" sz="quarter" idx="2"/>
          </p:nvPr>
        </p:nvSpPr>
        <p:spPr>
          <a:xfrm>
            <a:off x="8308692" y="381000"/>
            <a:ext cx="301909" cy="288824"/>
          </a:xfrm>
          <a:prstGeom prst="rect">
            <a:avLst/>
          </a:prstGeom>
          <a:ln w="12700">
            <a:miter lim="400000"/>
          </a:ln>
        </p:spPr>
        <p:txBody>
          <a:bodyPr wrap="none" lIns="45719" rIns="45719">
            <a:spAutoFit/>
          </a:bodyPr>
          <a:lstStyle>
            <a:lvl1pPr algn="r">
              <a:defRPr>
                <a:latin typeface="+mn-lt"/>
                <a:ea typeface="+mn-ea"/>
                <a:cs typeface="+mn-cs"/>
                <a:sym typeface="Arial"/>
              </a:defRPr>
            </a:lvl1pPr>
          </a:lstStyle>
          <a:p>
            <a:fld id="{86CB4B4D-7CA3-9044-876B-883B54F8677D}" type="slidenum">
              <a:t>‹#›</a:t>
            </a:fld>
            <a:endParaRPr/>
          </a:p>
        </p:txBody>
      </p:sp>
      <p:sp>
        <p:nvSpPr>
          <p:cNvPr id="6" name="Title Text"/>
          <p:cNvSpPr txBox="1">
            <a:spLocks noGrp="1"/>
          </p:cNvSpPr>
          <p:nvPr>
            <p:ph type="title"/>
          </p:nvPr>
        </p:nvSpPr>
        <p:spPr>
          <a:xfrm>
            <a:off x="457200" y="92074"/>
            <a:ext cx="8229600" cy="15081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7" name="Body Level One…"/>
          <p:cNvSpPr txBox="1">
            <a:spLocks noGrp="1"/>
          </p:cNvSpPr>
          <p:nvPr>
            <p:ph type="body" idx="1"/>
          </p:nvPr>
        </p:nvSpPr>
        <p:spPr>
          <a:xfrm>
            <a:off x="457200" y="1600200"/>
            <a:ext cx="8229600" cy="4525963"/>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Lst>
  <p:transition spd="med"/>
  <p:hf hdr="0" dt="0"/>
  <p:txStyles>
    <p:title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1pPr>
      <a:lvl2pPr marL="661307" marR="0" indent="-204107"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2pPr>
      <a:lvl3pPr marL="1200150" marR="0" indent="-28575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3pPr>
      <a:lvl4pPr marL="1600200" marR="0"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4pPr>
      <a:lvl5pPr marL="20828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5pPr>
      <a:lvl6pPr marL="25400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6pPr>
      <a:lvl7pPr marL="29972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7pPr>
      <a:lvl8pPr marL="34544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8pPr>
      <a:lvl9pPr marL="39116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hyperlink" Target="https://arxiv.org/abs/2402.00116v3" TargetMode="External"/><Relationship Id="rId3" Type="http://schemas.openxmlformats.org/officeDocument/2006/relationships/hyperlink" Target="https://arxiv.org/abs/2503.08026" TargetMode="External"/><Relationship Id="rId7" Type="http://schemas.openxmlformats.org/officeDocument/2006/relationships/hyperlink" Target="https://arxiv.org/abs/2402.00116" TargetMode="External"/><Relationship Id="rId12" Type="http://schemas.openxmlformats.org/officeDocument/2006/relationships/hyperlink" Target="https://doi.org/10.48550/arXiv.2309.06180" TargetMode="External"/><Relationship Id="rId2" Type="http://schemas.openxmlformats.org/officeDocument/2006/relationships/hyperlink" Target="https://arxiv.org/abs/2308.15022" TargetMode="External"/><Relationship Id="rId1" Type="http://schemas.openxmlformats.org/officeDocument/2006/relationships/slideLayout" Target="../slideLayouts/slideLayout9.xml"/><Relationship Id="rId6" Type="http://schemas.openxmlformats.org/officeDocument/2006/relationships/hyperlink" Target="https://doi.org/10.48550/arXiv.2306.07174" TargetMode="External"/><Relationship Id="rId11" Type="http://schemas.openxmlformats.org/officeDocument/2006/relationships/hyperlink" Target="https://arxiv.org/abs/2309.06180v1" TargetMode="External"/><Relationship Id="rId5" Type="http://schemas.openxmlformats.org/officeDocument/2006/relationships/hyperlink" Target="https://arxiv.org/abs/2306.07174v1" TargetMode="External"/><Relationship Id="rId10" Type="http://schemas.openxmlformats.org/officeDocument/2006/relationships/hyperlink" Target="https://arxiv.org/abs/2309.06180" TargetMode="External"/><Relationship Id="rId4" Type="http://schemas.openxmlformats.org/officeDocument/2006/relationships/hyperlink" Target="https://arxiv.org/abs/2306.07174" TargetMode="External"/><Relationship Id="rId9" Type="http://schemas.openxmlformats.org/officeDocument/2006/relationships/hyperlink" Target="https://doi.org/10.48550/arXiv.2402.00116"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lide Number"/>
          <p:cNvSpPr txBox="1">
            <a:spLocks noGrp="1"/>
          </p:cNvSpPr>
          <p:nvPr>
            <p:ph type="sldNum" sz="quarter" idx="2"/>
          </p:nvPr>
        </p:nvSpPr>
        <p:spPr>
          <a:xfrm>
            <a:off x="8153576" y="535609"/>
            <a:ext cx="280328" cy="44343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dirty="0"/>
          </a:p>
        </p:txBody>
      </p:sp>
      <p:sp>
        <p:nvSpPr>
          <p:cNvPr id="131" name="Z-SPA"/>
          <p:cNvSpPr txBox="1">
            <a:spLocks noGrp="1"/>
          </p:cNvSpPr>
          <p:nvPr>
            <p:ph type="title"/>
          </p:nvPr>
        </p:nvSpPr>
        <p:spPr>
          <a:xfrm>
            <a:off x="712237" y="1295210"/>
            <a:ext cx="7696200" cy="1912596"/>
          </a:xfrm>
          <a:prstGeom prst="rect">
            <a:avLst/>
          </a:prstGeom>
        </p:spPr>
        <p:txBody>
          <a:bodyPr lIns="45719" tIns="45720" rIns="45719" bIns="45720" anchor="ctr">
            <a:noAutofit/>
          </a:bodyPr>
          <a:lstStyle/>
          <a:p>
            <a:pPr>
              <a:defRPr sz="4000" b="1">
                <a:latin typeface="Times New Roman"/>
                <a:ea typeface="Times New Roman"/>
                <a:cs typeface="Times New Roman"/>
                <a:sym typeface="Times New Roman"/>
              </a:defRPr>
            </a:pPr>
            <a:r>
              <a:rPr lang="en-GB" sz="2600">
                <a:ea typeface="+mn-lt"/>
                <a:cs typeface="+mn-lt"/>
              </a:rPr>
              <a:t>Design and Development of an Adaptive Context-Aware Memory Optimisation Framework for Large Language Model (LLM) Conversations</a:t>
            </a:r>
            <a:br>
              <a:rPr lang="en-GB" sz="2600" dirty="0">
                <a:cs typeface="Times New Roman"/>
              </a:rPr>
            </a:br>
            <a:r>
              <a:rPr lang="en-GB" sz="1800" dirty="0"/>
              <a:t>19CSE495 / 22AIE498 Project Phase 1 – Approval Presentation</a:t>
            </a:r>
            <a:br>
              <a:rPr lang="en-GB" sz="2600" dirty="0"/>
            </a:br>
            <a:br>
              <a:rPr lang="en-GB" sz="2600" dirty="0"/>
            </a:br>
            <a:r>
              <a:rPr lang="en-GB" sz="1800" dirty="0"/>
              <a:t>Team ID: 22UG076			Panel No.: 16</a:t>
            </a:r>
            <a:endParaRPr lang="en-US" sz="2600" b="0" dirty="0"/>
          </a:p>
        </p:txBody>
      </p:sp>
      <p:sp>
        <p:nvSpPr>
          <p:cNvPr id="13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dirty="0"/>
          </a:p>
        </p:txBody>
      </p:sp>
      <p:graphicFrame>
        <p:nvGraphicFramePr>
          <p:cNvPr id="137" name="Table"/>
          <p:cNvGraphicFramePr/>
          <p:nvPr>
            <p:extLst>
              <p:ext uri="{D42A27DB-BD31-4B8C-83A1-F6EECF244321}">
                <p14:modId xmlns:p14="http://schemas.microsoft.com/office/powerpoint/2010/main" val="233397500"/>
              </p:ext>
            </p:extLst>
          </p:nvPr>
        </p:nvGraphicFramePr>
        <p:xfrm>
          <a:off x="582654" y="3551017"/>
          <a:ext cx="8103027" cy="1873078"/>
        </p:xfrm>
        <a:graphic>
          <a:graphicData uri="http://schemas.openxmlformats.org/drawingml/2006/table">
            <a:tbl>
              <a:tblPr>
                <a:tableStyleId>{4C3C2611-4C71-4FC5-86AE-919BDF0F9419}</a:tableStyleId>
              </a:tblPr>
              <a:tblGrid>
                <a:gridCol w="781362">
                  <a:extLst>
                    <a:ext uri="{9D8B030D-6E8A-4147-A177-3AD203B41FA5}">
                      <a16:colId xmlns:a16="http://schemas.microsoft.com/office/drawing/2014/main" val="20000"/>
                    </a:ext>
                  </a:extLst>
                </a:gridCol>
                <a:gridCol w="2297465">
                  <a:extLst>
                    <a:ext uri="{9D8B030D-6E8A-4147-A177-3AD203B41FA5}">
                      <a16:colId xmlns:a16="http://schemas.microsoft.com/office/drawing/2014/main" val="20001"/>
                    </a:ext>
                  </a:extLst>
                </a:gridCol>
                <a:gridCol w="3808747">
                  <a:extLst>
                    <a:ext uri="{9D8B030D-6E8A-4147-A177-3AD203B41FA5}">
                      <a16:colId xmlns:a16="http://schemas.microsoft.com/office/drawing/2014/main" val="20002"/>
                    </a:ext>
                  </a:extLst>
                </a:gridCol>
                <a:gridCol w="1215453">
                  <a:extLst>
                    <a:ext uri="{9D8B030D-6E8A-4147-A177-3AD203B41FA5}">
                      <a16:colId xmlns:a16="http://schemas.microsoft.com/office/drawing/2014/main" val="20003"/>
                    </a:ext>
                  </a:extLst>
                </a:gridCol>
              </a:tblGrid>
              <a:tr h="430658">
                <a:tc>
                  <a:txBody>
                    <a:bodyPr/>
                    <a:lstStyle/>
                    <a:p>
                      <a:pPr algn="ctr">
                        <a:defRPr sz="1800"/>
                      </a:pPr>
                      <a:r>
                        <a:rPr sz="1800" b="1" dirty="0">
                          <a:latin typeface="Times New Roman"/>
                          <a:ea typeface="Times New Roman"/>
                          <a:cs typeface="Times New Roman"/>
                          <a:sym typeface="Times New Roman"/>
                        </a:rPr>
                        <a:t>S.No</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sz="1800"/>
                      </a:pPr>
                      <a:r>
                        <a:rPr sz="1800" b="1" dirty="0">
                          <a:latin typeface="Times New Roman"/>
                          <a:ea typeface="Times New Roman"/>
                          <a:cs typeface="Times New Roman"/>
                          <a:sym typeface="Times New Roman"/>
                        </a:rPr>
                        <a:t>Reg.No</a:t>
                      </a:r>
                    </a:p>
                  </a:txBody>
                  <a:tcPr marL="0" marR="0" marT="0" marB="0" anchor="ctr"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sz="1800" b="1" dirty="0">
                          <a:latin typeface="Times New Roman"/>
                          <a:ea typeface="Times New Roman"/>
                          <a:cs typeface="Times New Roman"/>
                          <a:sym typeface="Times New Roman"/>
                        </a:rPr>
                        <a:t>Name of the Student</a:t>
                      </a:r>
                    </a:p>
                  </a:txBody>
                  <a:tcPr marL="0" marR="0" marT="0" marB="0" anchor="ctr"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sz="1800"/>
                      </a:pPr>
                      <a:r>
                        <a:rPr lang="en-US" sz="1800" b="1" dirty="0">
                          <a:latin typeface="Times New Roman"/>
                          <a:ea typeface="Times New Roman"/>
                          <a:cs typeface="Times New Roman"/>
                          <a:sym typeface="Times New Roman"/>
                        </a:rPr>
                        <a:t>Branch</a:t>
                      </a:r>
                      <a:endParaRPr sz="1800" b="1" dirty="0">
                        <a:latin typeface="Times New Roman"/>
                        <a:ea typeface="Times New Roman"/>
                        <a:cs typeface="Times New Roman"/>
                        <a:sym typeface="Times New Roman"/>
                      </a:endParaRPr>
                    </a:p>
                  </a:txBody>
                  <a:tcPr marL="0" marR="0" marT="0" marB="0" anchor="ctr"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extLst>
                  <a:ext uri="{0D108BD9-81ED-4DB2-BD59-A6C34878D82A}">
                    <a16:rowId xmlns:a16="http://schemas.microsoft.com/office/drawing/2014/main" val="10000"/>
                  </a:ext>
                </a:extLst>
              </a:tr>
              <a:tr h="360605">
                <a:tc>
                  <a:txBody>
                    <a:bodyPr/>
                    <a:lstStyle/>
                    <a:p>
                      <a:pPr algn="ctr">
                        <a:defRPr sz="1800"/>
                      </a:pPr>
                      <a:r>
                        <a:rPr sz="1600" dirty="0">
                          <a:latin typeface="Times New Roman"/>
                          <a:ea typeface="Times New Roman"/>
                          <a:cs typeface="Times New Roman"/>
                          <a:sym typeface="Times New Roman"/>
                        </a:rPr>
                        <a:t>1</a:t>
                      </a: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sym typeface="Times New Roman"/>
                        </a:rPr>
                        <a:t>BL</a:t>
                      </a:r>
                      <a:r>
                        <a:rPr sz="1600" dirty="0">
                          <a:latin typeface="Times New Roman"/>
                          <a:ea typeface="Times New Roman"/>
                          <a:cs typeface="Times New Roman"/>
                          <a:sym typeface="Times New Roman"/>
                        </a:rPr>
                        <a:t>.</a:t>
                      </a:r>
                      <a:r>
                        <a:rPr lang="en-US" sz="1600" dirty="0">
                          <a:latin typeface="Times New Roman"/>
                          <a:ea typeface="Times New Roman"/>
                          <a:cs typeface="Times New Roman"/>
                          <a:sym typeface="Times New Roman"/>
                        </a:rPr>
                        <a:t>EN.</a:t>
                      </a:r>
                      <a:r>
                        <a:rPr lang="en-US" sz="1600" dirty="0">
                          <a:latin typeface="Times New Roman"/>
                          <a:ea typeface="Times New Roman"/>
                          <a:cs typeface="Times New Roman"/>
                        </a:rPr>
                        <a:t>U4CSE22134</a:t>
                      </a:r>
                      <a:endParaRPr lang="en-IN" sz="1600" dirty="0">
                        <a:latin typeface="Times New Roman"/>
                        <a:ea typeface="Times New Roman"/>
                        <a:cs typeface="Times New Roman"/>
                        <a:sym typeface="Times New Roman"/>
                      </a:endParaRPr>
                    </a:p>
                  </a:txBody>
                  <a:tcPr marL="0" marR="0" marT="0" marB="0" horzOverflow="overflow">
                    <a:lnL w="12700">
                      <a:solidFill>
                        <a:srgbClr val="000000"/>
                      </a:solidFill>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r>
                        <a:rPr lang="en-US" sz="1600" dirty="0">
                          <a:latin typeface="Times New Roman"/>
                          <a:ea typeface="Times New Roman"/>
                          <a:cs typeface="Times New Roman"/>
                        </a:rPr>
                        <a:t>Namratha Akshaya</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a:solidFill>
                        <a:srgbClr val="000000"/>
                      </a:solidFill>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rPr>
                        <a:t>CSE</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360605">
                <a:tc>
                  <a:txBody>
                    <a:bodyPr/>
                    <a:lstStyle/>
                    <a:p>
                      <a:pPr algn="ctr">
                        <a:defRPr sz="1800"/>
                      </a:pPr>
                      <a:r>
                        <a:rPr lang="en-US" sz="1600" dirty="0">
                          <a:latin typeface="Times New Roman"/>
                          <a:ea typeface="Times New Roman"/>
                          <a:cs typeface="Times New Roman"/>
                          <a:sym typeface="Times New Roman"/>
                        </a:rPr>
                        <a:t>2</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marL="0" marR="0" lvl="0" indent="0" algn="ctr" defTabSz="914400">
                        <a:lnSpc>
                          <a:spcPct val="100000"/>
                        </a:lnSpc>
                        <a:spcBef>
                          <a:spcPts val="0"/>
                        </a:spcBef>
                        <a:spcAft>
                          <a:spcPts val="0"/>
                        </a:spcAft>
                        <a:buNone/>
                        <a:tabLst/>
                        <a:defRPr sz="1800"/>
                      </a:pPr>
                      <a:r>
                        <a:rPr lang="en-US" sz="1600" b="0" i="0" u="none" strike="noStrike" noProof="0" dirty="0">
                          <a:solidFill>
                            <a:srgbClr val="000000"/>
                          </a:solidFill>
                          <a:latin typeface="Times New Roman"/>
                        </a:rPr>
                        <a:t>BL</a:t>
                      </a:r>
                      <a:r>
                        <a:rPr lang="en-IN" sz="1600" b="0" i="0" u="none" strike="noStrike" noProof="0" dirty="0">
                          <a:solidFill>
                            <a:srgbClr val="000000"/>
                          </a:solidFill>
                          <a:latin typeface="Times New Roman"/>
                        </a:rPr>
                        <a:t>.</a:t>
                      </a:r>
                      <a:r>
                        <a:rPr lang="en-US" sz="1600" b="0" i="0" u="none" strike="noStrike" noProof="0" dirty="0">
                          <a:solidFill>
                            <a:srgbClr val="000000"/>
                          </a:solidFill>
                          <a:latin typeface="Times New Roman"/>
                        </a:rPr>
                        <a:t>EN.U4CSE22137</a:t>
                      </a:r>
                      <a:endParaRPr lang="en-US" dirty="0">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r>
                        <a:rPr lang="en-US" sz="1600" dirty="0">
                          <a:latin typeface="Times New Roman"/>
                          <a:ea typeface="Times New Roman"/>
                          <a:cs typeface="Times New Roman"/>
                        </a:rPr>
                        <a:t>Namrutha M</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rPr>
                        <a:t>CSE</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421071"/>
                  </a:ext>
                </a:extLst>
              </a:tr>
              <a:tr h="360605">
                <a:tc>
                  <a:txBody>
                    <a:bodyPr/>
                    <a:lstStyle/>
                    <a:p>
                      <a:pPr algn="ctr">
                        <a:defRPr sz="1800"/>
                      </a:pPr>
                      <a:r>
                        <a:rPr lang="en-US" sz="1600" dirty="0">
                          <a:latin typeface="Times New Roman"/>
                          <a:ea typeface="Times New Roman"/>
                          <a:cs typeface="Times New Roman"/>
                          <a:sym typeface="Times New Roman"/>
                        </a:rPr>
                        <a:t>3</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marL="0" marR="0" lvl="0" indent="0" algn="ctr" defTabSz="914400">
                        <a:lnSpc>
                          <a:spcPct val="100000"/>
                        </a:lnSpc>
                        <a:spcBef>
                          <a:spcPts val="0"/>
                        </a:spcBef>
                        <a:spcAft>
                          <a:spcPts val="0"/>
                        </a:spcAft>
                        <a:buNone/>
                        <a:tabLst/>
                        <a:defRPr sz="1800"/>
                      </a:pPr>
                      <a:r>
                        <a:rPr lang="en-US" sz="1600" b="0" i="0" u="none" strike="noStrike" noProof="0" dirty="0">
                          <a:solidFill>
                            <a:srgbClr val="000000"/>
                          </a:solidFill>
                          <a:latin typeface="Times New Roman"/>
                        </a:rPr>
                        <a:t>BL</a:t>
                      </a:r>
                      <a:r>
                        <a:rPr lang="en-IN" sz="1600" b="0" i="0" u="none" strike="noStrike" noProof="0" dirty="0">
                          <a:solidFill>
                            <a:srgbClr val="000000"/>
                          </a:solidFill>
                          <a:latin typeface="Times New Roman"/>
                        </a:rPr>
                        <a:t>.</a:t>
                      </a:r>
                      <a:r>
                        <a:rPr lang="en-US" sz="1600" b="0" i="0" u="none" strike="noStrike" noProof="0" dirty="0">
                          <a:solidFill>
                            <a:srgbClr val="000000"/>
                          </a:solidFill>
                          <a:latin typeface="Times New Roman"/>
                        </a:rPr>
                        <a:t>EN.U4CSE22175</a:t>
                      </a:r>
                      <a:endParaRPr lang="en-US" dirty="0">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r>
                        <a:rPr lang="en-US" sz="1600" dirty="0">
                          <a:latin typeface="Times New Roman"/>
                          <a:ea typeface="Times New Roman"/>
                          <a:cs typeface="Times New Roman"/>
                        </a:rPr>
                        <a:t>Niharika Reddy</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tc>
                  <a:txBody>
                    <a:bodyPr/>
                    <a:lstStyle/>
                    <a:p>
                      <a:pPr algn="ctr">
                        <a:defRPr sz="1800"/>
                      </a:pPr>
                      <a:r>
                        <a:rPr lang="en-US" sz="1600" dirty="0">
                          <a:latin typeface="Times New Roman"/>
                          <a:ea typeface="Times New Roman"/>
                          <a:cs typeface="Times New Roman"/>
                        </a:rPr>
                        <a:t>CSE</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9946137"/>
                  </a:ext>
                </a:extLst>
              </a:tr>
              <a:tr h="360605">
                <a:tc>
                  <a:txBody>
                    <a:bodyPr/>
                    <a:lstStyle/>
                    <a:p>
                      <a:pPr algn="ctr">
                        <a:defRPr sz="1800"/>
                      </a:pPr>
                      <a:r>
                        <a:rPr lang="en-US" sz="1600" dirty="0">
                          <a:latin typeface="Times New Roman"/>
                          <a:ea typeface="Times New Roman"/>
                          <a:cs typeface="Times New Roman"/>
                          <a:sym typeface="Times New Roman"/>
                        </a:rPr>
                        <a:t>4</a:t>
                      </a:r>
                      <a:endParaRPr sz="1600" dirty="0">
                        <a:latin typeface="Times New Roman"/>
                        <a:ea typeface="Times New Roman"/>
                        <a:cs typeface="Times New Roman"/>
                        <a:sym typeface="Times New Roman"/>
                      </a:endParaRPr>
                    </a:p>
                  </a:txBody>
                  <a:tcPr marL="0" marR="0" marT="0" marB="0" horzOverflow="overflow">
                    <a:lnL w="12700">
                      <a:solidFill>
                        <a:srgbClr val="000000"/>
                      </a:solidFill>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marL="0" marR="0" lvl="0" indent="0" algn="ctr" defTabSz="914400">
                        <a:lnSpc>
                          <a:spcPct val="100000"/>
                        </a:lnSpc>
                        <a:spcBef>
                          <a:spcPts val="0"/>
                        </a:spcBef>
                        <a:spcAft>
                          <a:spcPts val="0"/>
                        </a:spcAft>
                        <a:buNone/>
                        <a:tabLst/>
                        <a:defRPr sz="1800"/>
                      </a:pPr>
                      <a:r>
                        <a:rPr lang="en-US" sz="1600" b="0" i="0" u="none" strike="noStrike" noProof="0" dirty="0">
                          <a:solidFill>
                            <a:srgbClr val="000000"/>
                          </a:solidFill>
                          <a:latin typeface="Times New Roman"/>
                        </a:rPr>
                        <a:t>BL</a:t>
                      </a:r>
                      <a:r>
                        <a:rPr lang="en-IN" sz="1600" b="0" i="0" u="none" strike="noStrike" noProof="0" dirty="0">
                          <a:solidFill>
                            <a:srgbClr val="000000"/>
                          </a:solidFill>
                          <a:latin typeface="Times New Roman"/>
                        </a:rPr>
                        <a:t>.</a:t>
                      </a:r>
                      <a:r>
                        <a:rPr lang="en-US" sz="1600" b="0" i="0" u="none" strike="noStrike" noProof="0" dirty="0">
                          <a:solidFill>
                            <a:srgbClr val="000000"/>
                          </a:solidFill>
                          <a:latin typeface="Times New Roman"/>
                        </a:rPr>
                        <a:t>EN.U4CSE22209</a:t>
                      </a:r>
                      <a:endParaRPr lang="en-US" dirty="0">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algn="ctr"/>
                      <a:r>
                        <a:rPr lang="en-US" sz="1600" dirty="0">
                          <a:latin typeface="Times New Roman"/>
                          <a:ea typeface="Times New Roman"/>
                          <a:cs typeface="Times New Roman"/>
                        </a:rPr>
                        <a:t>B.U.Naveen Raj</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tc>
                  <a:txBody>
                    <a:bodyPr/>
                    <a:lstStyle/>
                    <a:p>
                      <a:pPr algn="ctr">
                        <a:defRPr sz="1800"/>
                      </a:pPr>
                      <a:r>
                        <a:rPr lang="en-US" sz="1600" dirty="0">
                          <a:latin typeface="Times New Roman"/>
                          <a:ea typeface="Times New Roman"/>
                          <a:cs typeface="Times New Roman"/>
                        </a:rPr>
                        <a:t>CSE</a:t>
                      </a:r>
                      <a:endParaRPr sz="1600" dirty="0">
                        <a:latin typeface="Times New Roman"/>
                        <a:ea typeface="Times New Roman"/>
                        <a:cs typeface="Times New Roman"/>
                        <a:sym typeface="Times New Roman"/>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a:solidFill>
                        <a:srgbClr val="000000"/>
                      </a:solidFill>
                    </a:lnT>
                    <a:lnB w="12700">
                      <a:solidFill>
                        <a:srgbClr val="000000"/>
                      </a:solidFill>
                    </a:lnB>
                    <a:noFill/>
                  </a:tcPr>
                </a:tc>
                <a:extLst>
                  <a:ext uri="{0D108BD9-81ED-4DB2-BD59-A6C34878D82A}">
                    <a16:rowId xmlns:a16="http://schemas.microsoft.com/office/drawing/2014/main" val="1080733238"/>
                  </a:ext>
                </a:extLst>
              </a:tr>
            </a:tbl>
          </a:graphicData>
        </a:graphic>
      </p:graphicFrame>
      <p:sp>
        <p:nvSpPr>
          <p:cNvPr id="2" name="TextBox 1"/>
          <p:cNvSpPr txBox="1"/>
          <p:nvPr/>
        </p:nvSpPr>
        <p:spPr>
          <a:xfrm>
            <a:off x="830638" y="5779566"/>
            <a:ext cx="92396"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IN" sz="1400" b="0" i="0" u="none" strike="noStrike" cap="none" spc="0" normalizeH="0" baseline="0" dirty="0">
              <a:ln>
                <a:noFill/>
              </a:ln>
              <a:solidFill>
                <a:srgbClr val="000000"/>
              </a:solidFill>
              <a:effectLst/>
              <a:uFillTx/>
              <a:latin typeface="Times New Roman"/>
              <a:ea typeface="Times New Roman"/>
              <a:cs typeface="Times New Roman"/>
              <a:sym typeface="Times New Roman"/>
            </a:endParaRPr>
          </a:p>
        </p:txBody>
      </p:sp>
      <p:sp>
        <p:nvSpPr>
          <p:cNvPr id="3" name="TextBox 2"/>
          <p:cNvSpPr txBox="1"/>
          <p:nvPr/>
        </p:nvSpPr>
        <p:spPr>
          <a:xfrm>
            <a:off x="830638" y="5591102"/>
            <a:ext cx="4823286"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sz="1800" b="1" dirty="0"/>
              <a:t>Project Guide: Ms. Pooja Gowda</a:t>
            </a:r>
          </a:p>
          <a:p>
            <a:r>
              <a:rPr lang="en-US" sz="1800" b="1" dirty="0"/>
              <a:t>Assistant Professor</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dirty="0"/>
          </a:p>
        </p:txBody>
      </p:sp>
      <p:sp>
        <p:nvSpPr>
          <p:cNvPr id="141" name="Content"/>
          <p:cNvSpPr txBox="1">
            <a:spLocks noGrp="1"/>
          </p:cNvSpPr>
          <p:nvPr>
            <p:ph type="title"/>
          </p:nvPr>
        </p:nvSpPr>
        <p:spPr>
          <a:xfrm>
            <a:off x="609600" y="1371600"/>
            <a:ext cx="7772400" cy="685800"/>
          </a:xfrm>
          <a:prstGeom prst="rect">
            <a:avLst/>
          </a:prstGeom>
        </p:spPr>
        <p:txBody>
          <a:bodyPr>
            <a:normAutofit/>
          </a:bodyPr>
          <a:lstStyle>
            <a:lvl1pPr>
              <a:defRPr sz="3200">
                <a:latin typeface="Times New Roman"/>
                <a:ea typeface="Times New Roman"/>
                <a:cs typeface="Times New Roman"/>
                <a:sym typeface="Times New Roman"/>
              </a:defRPr>
            </a:lvl1pPr>
          </a:lstStyle>
          <a:p>
            <a:r>
              <a:rPr lang="en-IN" dirty="0">
                <a:latin typeface="Times New Roman" panose="02020603050405020304" pitchFamily="18" charset="0"/>
                <a:ea typeface="+mn-ea"/>
                <a:cs typeface="Times New Roman" panose="02020603050405020304" pitchFamily="18" charset="0"/>
                <a:sym typeface="Arial"/>
              </a:rPr>
              <a:t>Problem</a:t>
            </a:r>
            <a:r>
              <a:rPr lang="en-IN" dirty="0"/>
              <a:t> Definition</a:t>
            </a:r>
            <a:endParaRPr dirty="0"/>
          </a:p>
        </p:txBody>
      </p:sp>
      <p:sp>
        <p:nvSpPr>
          <p:cNvPr id="142" name="Rectangle"/>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dirty="0"/>
          </a:p>
        </p:txBody>
      </p:sp>
      <p:sp>
        <p:nvSpPr>
          <p:cNvPr id="2" name="TextBox 1">
            <a:extLst>
              <a:ext uri="{FF2B5EF4-FFF2-40B4-BE49-F238E27FC236}">
                <a16:creationId xmlns:a16="http://schemas.microsoft.com/office/drawing/2014/main" id="{7BDE0DCC-85AC-0160-9EFC-86D4EE826240}"/>
              </a:ext>
            </a:extLst>
          </p:cNvPr>
          <p:cNvSpPr txBox="1"/>
          <p:nvPr/>
        </p:nvSpPr>
        <p:spPr>
          <a:xfrm>
            <a:off x="622445" y="2302972"/>
            <a:ext cx="7905735" cy="3416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just"/>
            <a:r>
              <a:rPr lang="en-US" sz="2400" dirty="0">
                <a:ea typeface="fkGroteskNeue"/>
                <a:cs typeface="fkGroteskNeue"/>
              </a:rPr>
              <a:t>Current large language model (LLM)-based chat systems often lose context, instructions, and goals during extended conversations due to token limits, sudden topic shifts, or minimal user prompts. This project aims to develop an adaptive prompt-optimization and memory management framework that dynamically retains and reinforces essential context, enabling LLMs to provide stable, personalized, and contextually accurate responses across multi-turn interactions by labeling prompts based on parameters .</a:t>
            </a:r>
            <a:endParaRPr lang="en-US" sz="2400" b="0" i="0" u="none" strike="noStrike" cap="none" spc="0" normalizeH="0" baseline="0" dirty="0">
              <a:ln>
                <a:noFill/>
              </a:ln>
              <a:solidFill>
                <a:srgbClr val="000000"/>
              </a:solidFill>
              <a:effectLst/>
              <a:uFillTx/>
              <a:ea typeface="Times New Roman"/>
              <a:cs typeface="Times New Roman"/>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2F483-6CDE-C728-B73B-C6A6E883880F}"/>
            </a:ext>
          </a:extLst>
        </p:cNvPr>
        <p:cNvGrpSpPr/>
        <p:nvPr/>
      </p:nvGrpSpPr>
      <p:grpSpPr>
        <a:xfrm>
          <a:off x="0" y="0"/>
          <a:ext cx="0" cy="0"/>
          <a:chOff x="0" y="0"/>
          <a:chExt cx="0" cy="0"/>
        </a:xfrm>
      </p:grpSpPr>
      <p:sp>
        <p:nvSpPr>
          <p:cNvPr id="140" name="Slide Number">
            <a:extLst>
              <a:ext uri="{FF2B5EF4-FFF2-40B4-BE49-F238E27FC236}">
                <a16:creationId xmlns:a16="http://schemas.microsoft.com/office/drawing/2014/main" id="{6C424A7E-E63D-2C72-21FB-286CF6D1BBDD}"/>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3</a:t>
            </a:fld>
            <a:endParaRPr dirty="0"/>
          </a:p>
        </p:txBody>
      </p:sp>
      <p:sp>
        <p:nvSpPr>
          <p:cNvPr id="141" name="Content">
            <a:extLst>
              <a:ext uri="{FF2B5EF4-FFF2-40B4-BE49-F238E27FC236}">
                <a16:creationId xmlns:a16="http://schemas.microsoft.com/office/drawing/2014/main" id="{4F22C41B-A05A-692B-A0C7-11B3D088472D}"/>
              </a:ext>
            </a:extLst>
          </p:cNvPr>
          <p:cNvSpPr txBox="1">
            <a:spLocks noGrp="1"/>
          </p:cNvSpPr>
          <p:nvPr>
            <p:ph type="title"/>
          </p:nvPr>
        </p:nvSpPr>
        <p:spPr>
          <a:xfrm>
            <a:off x="609600" y="1371600"/>
            <a:ext cx="7772400" cy="685800"/>
          </a:xfrm>
          <a:prstGeom prst="rect">
            <a:avLst/>
          </a:prstGeom>
        </p:spPr>
        <p:txBody>
          <a:bodyPr lIns="45719" tIns="45720" rIns="45719" bIns="45720" anchor="ctr">
            <a:normAutofit/>
          </a:bodyPr>
          <a:lstStyle>
            <a:lvl1pPr>
              <a:defRPr sz="3200">
                <a:latin typeface="Times New Roman"/>
                <a:ea typeface="Times New Roman"/>
                <a:cs typeface="Times New Roman"/>
                <a:sym typeface="Times New Roman"/>
              </a:defRPr>
            </a:lvl1pPr>
          </a:lstStyle>
          <a:p>
            <a:r>
              <a:rPr lang="en-IN" dirty="0">
                <a:ea typeface="+mn-ea"/>
                <a:sym typeface="Arial"/>
              </a:rPr>
              <a:t>Problem</a:t>
            </a:r>
            <a:r>
              <a:rPr lang="en-IN" dirty="0"/>
              <a:t> Outcomes</a:t>
            </a:r>
            <a:endParaRPr dirty="0"/>
          </a:p>
        </p:txBody>
      </p:sp>
      <p:sp>
        <p:nvSpPr>
          <p:cNvPr id="142" name="Rectangle">
            <a:extLst>
              <a:ext uri="{FF2B5EF4-FFF2-40B4-BE49-F238E27FC236}">
                <a16:creationId xmlns:a16="http://schemas.microsoft.com/office/drawing/2014/main" id="{1F5F0630-8F2A-8191-624D-CAFCF924FD7A}"/>
              </a:ext>
            </a:extLst>
          </p:cNvPr>
          <p:cNvSpPr/>
          <p:nvPr/>
        </p:nvSpPr>
        <p:spPr>
          <a:xfrm>
            <a:off x="1295400" y="304800"/>
            <a:ext cx="6858000" cy="457200"/>
          </a:xfrm>
          <a:prstGeom prst="rect">
            <a:avLst/>
          </a:prstGeom>
          <a:solidFill>
            <a:srgbClr val="FFFFFF"/>
          </a:solidFill>
          <a:ln>
            <a:solidFill>
              <a:srgbClr val="FFFFFF"/>
            </a:solidFill>
          </a:ln>
        </p:spPr>
        <p:txBody>
          <a:bodyPr lIns="45719" rIns="45719" anchor="ctr"/>
          <a:lstStyle/>
          <a:p>
            <a:pPr>
              <a:defRPr sz="2800">
                <a:latin typeface="+mn-lt"/>
                <a:ea typeface="+mn-ea"/>
                <a:cs typeface="+mn-cs"/>
                <a:sym typeface="Arial"/>
              </a:defRPr>
            </a:pPr>
            <a:endParaRPr dirty="0"/>
          </a:p>
        </p:txBody>
      </p:sp>
      <p:sp>
        <p:nvSpPr>
          <p:cNvPr id="2" name="TextBox 1">
            <a:extLst>
              <a:ext uri="{FF2B5EF4-FFF2-40B4-BE49-F238E27FC236}">
                <a16:creationId xmlns:a16="http://schemas.microsoft.com/office/drawing/2014/main" id="{A7659B2F-3ECB-E409-5016-7ED7E29C36D4}"/>
              </a:ext>
            </a:extLst>
          </p:cNvPr>
          <p:cNvSpPr txBox="1"/>
          <p:nvPr/>
        </p:nvSpPr>
        <p:spPr>
          <a:xfrm>
            <a:off x="412996" y="1824229"/>
            <a:ext cx="8097232" cy="40934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just"/>
            <a:endParaRPr lang="en-US" sz="2000" dirty="0"/>
          </a:p>
          <a:p>
            <a:pPr marL="285750" indent="-285750" algn="just">
              <a:buFont typeface="Arial"/>
              <a:buChar char="•"/>
            </a:pPr>
            <a:r>
              <a:rPr lang="en-US" sz="2000" b="1" dirty="0"/>
              <a:t>Context Compression through Parameterized Summarization</a:t>
            </a:r>
            <a:r>
              <a:rPr lang="en-US" sz="2000" dirty="0"/>
              <a:t> – Implementing a parameter-based summarization method that selectively retains critical conversation cues while discarding redundant text, reducing string size without losing essential meaning.</a:t>
            </a:r>
          </a:p>
          <a:p>
            <a:pPr marL="285750" indent="-285750" algn="just">
              <a:buFont typeface="Arial"/>
              <a:buChar char="•"/>
            </a:pPr>
            <a:r>
              <a:rPr lang="en-US" sz="2000" b="1" dirty="0"/>
              <a:t>Adaptive Memory Utilization Optimization</a:t>
            </a:r>
            <a:r>
              <a:rPr lang="en-US" sz="2000" dirty="0"/>
              <a:t> – Dynamically managing and reorganizing stored conversation data based on relevance and priority, ensuring optimal memory usage even in extended multi-turn interactions.</a:t>
            </a:r>
          </a:p>
          <a:p>
            <a:pPr marL="285750" indent="-285750" algn="just">
              <a:buFont typeface="Arial"/>
              <a:buChar char="•"/>
            </a:pPr>
            <a:r>
              <a:rPr lang="en-US" sz="2000" b="1" dirty="0"/>
              <a:t>Cost-Efficient Prompt Generation</a:t>
            </a:r>
            <a:r>
              <a:rPr lang="en-US" sz="2000" dirty="0"/>
              <a:t> – Minimizing token consumption by generating compact yet context-rich prompts, resulting in lower computational cost and faster response times without compromising contextual accuracy.</a:t>
            </a:r>
          </a:p>
          <a:p>
            <a:pPr algn="just"/>
            <a:endParaRPr lang="en-US" sz="2000" b="0" i="0" u="none" strike="noStrike" cap="none" spc="0" normalizeH="0" baseline="0" dirty="0">
              <a:ln>
                <a:noFill/>
              </a:ln>
              <a:solidFill>
                <a:srgbClr val="000000"/>
              </a:solidFill>
              <a:effectLst/>
              <a:uFillTx/>
            </a:endParaRPr>
          </a:p>
        </p:txBody>
      </p:sp>
    </p:spTree>
    <p:extLst>
      <p:ext uri="{BB962C8B-B14F-4D97-AF65-F5344CB8AC3E}">
        <p14:creationId xmlns:p14="http://schemas.microsoft.com/office/powerpoint/2010/main" val="188150569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dirty="0"/>
          </a:p>
        </p:txBody>
      </p:sp>
      <p:sp>
        <p:nvSpPr>
          <p:cNvPr id="157" name="Motivation"/>
          <p:cNvSpPr txBox="1">
            <a:spLocks noGrp="1"/>
          </p:cNvSpPr>
          <p:nvPr>
            <p:ph type="title"/>
          </p:nvPr>
        </p:nvSpPr>
        <p:spPr>
          <a:xfrm>
            <a:off x="999435" y="2711"/>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Literature Survey</a:t>
            </a:r>
            <a:endParaRPr sz="3200" dirty="0"/>
          </a:p>
        </p:txBody>
      </p:sp>
      <p:graphicFrame>
        <p:nvGraphicFramePr>
          <p:cNvPr id="2" name="Table 2">
            <a:extLst>
              <a:ext uri="{FF2B5EF4-FFF2-40B4-BE49-F238E27FC236}">
                <a16:creationId xmlns:a16="http://schemas.microsoft.com/office/drawing/2014/main" id="{9E0555AD-2513-94DB-0D0F-115A8244F34F}"/>
              </a:ext>
            </a:extLst>
          </p:cNvPr>
          <p:cNvGraphicFramePr>
            <a:graphicFrameLocks noGrp="1"/>
          </p:cNvGraphicFramePr>
          <p:nvPr>
            <p:extLst>
              <p:ext uri="{D42A27DB-BD31-4B8C-83A1-F6EECF244321}">
                <p14:modId xmlns:p14="http://schemas.microsoft.com/office/powerpoint/2010/main" val="3808503446"/>
              </p:ext>
            </p:extLst>
          </p:nvPr>
        </p:nvGraphicFramePr>
        <p:xfrm>
          <a:off x="238986" y="1024631"/>
          <a:ext cx="8666027" cy="5833369"/>
        </p:xfrm>
        <a:graphic>
          <a:graphicData uri="http://schemas.openxmlformats.org/drawingml/2006/table">
            <a:tbl>
              <a:tblPr firstRow="1" bandRow="1">
                <a:tableStyleId>{10A1B5D5-9B99-4C35-A422-299274C87663}</a:tableStyleId>
              </a:tblPr>
              <a:tblGrid>
                <a:gridCol w="616420">
                  <a:extLst>
                    <a:ext uri="{9D8B030D-6E8A-4147-A177-3AD203B41FA5}">
                      <a16:colId xmlns:a16="http://schemas.microsoft.com/office/drawing/2014/main" val="3359582560"/>
                    </a:ext>
                  </a:extLst>
                </a:gridCol>
                <a:gridCol w="1464340">
                  <a:extLst>
                    <a:ext uri="{9D8B030D-6E8A-4147-A177-3AD203B41FA5}">
                      <a16:colId xmlns:a16="http://schemas.microsoft.com/office/drawing/2014/main" val="246789036"/>
                    </a:ext>
                  </a:extLst>
                </a:gridCol>
                <a:gridCol w="2046835">
                  <a:extLst>
                    <a:ext uri="{9D8B030D-6E8A-4147-A177-3AD203B41FA5}">
                      <a16:colId xmlns:a16="http://schemas.microsoft.com/office/drawing/2014/main" val="2085544661"/>
                    </a:ext>
                  </a:extLst>
                </a:gridCol>
                <a:gridCol w="2276389">
                  <a:extLst>
                    <a:ext uri="{9D8B030D-6E8A-4147-A177-3AD203B41FA5}">
                      <a16:colId xmlns:a16="http://schemas.microsoft.com/office/drawing/2014/main" val="1277987297"/>
                    </a:ext>
                  </a:extLst>
                </a:gridCol>
                <a:gridCol w="2262043">
                  <a:extLst>
                    <a:ext uri="{9D8B030D-6E8A-4147-A177-3AD203B41FA5}">
                      <a16:colId xmlns:a16="http://schemas.microsoft.com/office/drawing/2014/main" val="3529693153"/>
                    </a:ext>
                  </a:extLst>
                </a:gridCol>
              </a:tblGrid>
              <a:tr h="507334">
                <a:tc>
                  <a:txBody>
                    <a:bodyPr/>
                    <a:lstStyle/>
                    <a:p>
                      <a:pPr algn="ctr"/>
                      <a:r>
                        <a:rPr lang="en-IN" sz="1400" dirty="0"/>
                        <a:t>S.No.</a:t>
                      </a:r>
                    </a:p>
                  </a:txBody>
                  <a:tcPr/>
                </a:tc>
                <a:tc>
                  <a:txBody>
                    <a:bodyPr/>
                    <a:lstStyle/>
                    <a:p>
                      <a:pPr algn="ctr"/>
                      <a:r>
                        <a:rPr lang="en-IN" sz="1500" dirty="0"/>
                        <a:t>Authors name(s)</a:t>
                      </a:r>
                    </a:p>
                  </a:txBody>
                  <a:tcPr/>
                </a:tc>
                <a:tc>
                  <a:txBody>
                    <a:bodyPr/>
                    <a:lstStyle/>
                    <a:p>
                      <a:pPr algn="ctr"/>
                      <a:r>
                        <a:rPr lang="en-IN" sz="1500" dirty="0"/>
                        <a:t>Full title of the paper with year</a:t>
                      </a:r>
                    </a:p>
                  </a:txBody>
                  <a:tcPr/>
                </a:tc>
                <a:tc>
                  <a:txBody>
                    <a:bodyPr/>
                    <a:lstStyle/>
                    <a:p>
                      <a:pPr algn="ctr"/>
                      <a:r>
                        <a:rPr lang="en-IN" sz="1500" dirty="0"/>
                        <a:t>Inference from the paper</a:t>
                      </a:r>
                    </a:p>
                  </a:txBody>
                  <a:tcPr/>
                </a:tc>
                <a:tc>
                  <a:txBody>
                    <a:bodyPr/>
                    <a:lstStyle/>
                    <a:p>
                      <a:pPr algn="ctr"/>
                      <a:r>
                        <a:rPr lang="en-IN" sz="1500" dirty="0"/>
                        <a:t>Open Problem (For proposed work)</a:t>
                      </a:r>
                    </a:p>
                  </a:txBody>
                  <a:tcPr/>
                </a:tc>
                <a:extLst>
                  <a:ext uri="{0D108BD9-81ED-4DB2-BD59-A6C34878D82A}">
                    <a16:rowId xmlns:a16="http://schemas.microsoft.com/office/drawing/2014/main" val="1015962150"/>
                  </a:ext>
                </a:extLst>
              </a:tr>
              <a:tr h="2832615">
                <a:tc>
                  <a:txBody>
                    <a:bodyPr/>
                    <a:lstStyle/>
                    <a:p>
                      <a:pPr algn="ctr"/>
                      <a:endParaRPr lang="en-IN" sz="1200" dirty="0"/>
                    </a:p>
                    <a:p>
                      <a:pPr lvl="0" algn="ctr">
                        <a:buNone/>
                      </a:pPr>
                      <a:endParaRPr lang="en-IN" sz="1200" dirty="0"/>
                    </a:p>
                    <a:p>
                      <a:pPr lvl="0" algn="ctr">
                        <a:buNone/>
                      </a:pPr>
                      <a:endParaRPr lang="en-IN" sz="1200" dirty="0"/>
                    </a:p>
                    <a:p>
                      <a:pPr lvl="0" algn="ctr">
                        <a:buNone/>
                      </a:pPr>
                      <a:endParaRPr lang="en-IN" sz="1200" dirty="0"/>
                    </a:p>
                    <a:p>
                      <a:pPr lvl="0" algn="ctr">
                        <a:buNone/>
                      </a:pPr>
                      <a:r>
                        <a:rPr lang="en-IN" sz="1200" dirty="0"/>
                        <a:t>1</a:t>
                      </a:r>
                    </a:p>
                  </a:txBody>
                  <a:tcPr/>
                </a:tc>
                <a:tc>
                  <a:txBody>
                    <a:bodyPr/>
                    <a:lstStyle/>
                    <a:p>
                      <a:pPr lvl="0" algn="l">
                        <a:buNone/>
                      </a:pPr>
                      <a:r>
                        <a:rPr lang="en-IN" sz="1200" b="0" u="none" strike="noStrike" noProof="0" dirty="0"/>
                        <a:t>Bery Leouro Mbaiossoum, Atteib Doutoum Mahamat, Narkoy Batouma, Lang Dionlar, Batoure Bamana Apollinaire, Idriss Oumar Adam</a:t>
                      </a:r>
                      <a:endParaRPr lang="en-US" sz="1200" dirty="0">
                        <a:latin typeface="Times New Roman"/>
                      </a:endParaRPr>
                    </a:p>
                  </a:txBody>
                  <a:tcPr/>
                </a:tc>
                <a:tc>
                  <a:txBody>
                    <a:bodyPr/>
                    <a:lstStyle/>
                    <a:p>
                      <a:pPr lvl="0" algn="l">
                        <a:buNone/>
                      </a:pPr>
                      <a:r>
                        <a:rPr lang="en-IN" sz="1400" b="1" u="none" strike="noStrike" noProof="0" dirty="0"/>
                        <a:t>How to Choose the Best AI LLM: A Guide to Navigating the Diversity of Models (2025)</a:t>
                      </a:r>
                      <a:endParaRPr lang="en-US" sz="1400" b="1" dirty="0">
                        <a:latin typeface="Times New Roman"/>
                      </a:endParaRPr>
                    </a:p>
                  </a:txBody>
                  <a:tcPr/>
                </a:tc>
                <a:tc>
                  <a:txBody>
                    <a:bodyPr/>
                    <a:lstStyle/>
                    <a:p>
                      <a:pPr lvl="0" algn="l">
                        <a:buNone/>
                      </a:pPr>
                      <a:r>
                        <a:rPr lang="en-IN" sz="1200" b="0" u="none" strike="noStrike" noProof="0" dirty="0"/>
                        <a:t>This article offers a comprehensive state-of-the-art review of Large Language Models (LLMs), their architectures, strengths, and weaknesses. It provides a comparative analysis of leading LLMs (GPT-4, LaMDA, Claude, Llama 2, Mistral, Gemini), and discusses selection guidelines based on criteria like cost, performance, resources, and ethical issues. </a:t>
                      </a:r>
                      <a:endParaRPr lang="en-US" sz="1200" dirty="0">
                        <a:latin typeface="Times New Roman"/>
                      </a:endParaRPr>
                    </a:p>
                  </a:txBody>
                  <a:tcPr/>
                </a:tc>
                <a:tc>
                  <a:txBody>
                    <a:bodyPr/>
                    <a:lstStyle/>
                    <a:p>
                      <a:pPr lvl="0" algn="l">
                        <a:buNone/>
                      </a:pPr>
                      <a:r>
                        <a:rPr lang="en-IN" sz="1200" b="0" u="none" strike="noStrike" noProof="0" dirty="0"/>
                        <a:t>There are no standardized norms or criteria for evaluating and comparing LLMs; contextual and memory adaptability across tasks is lacking. The need remains for a framework to optimize LLM performance with adaptive context-aware memory, filling gaps in long conversation retention, cost-control, and explainable selection. </a:t>
                      </a:r>
                      <a:endParaRPr lang="en-US" sz="1200" dirty="0">
                        <a:latin typeface="Times New Roman"/>
                      </a:endParaRPr>
                    </a:p>
                  </a:txBody>
                  <a:tcPr/>
                </a:tc>
                <a:extLst>
                  <a:ext uri="{0D108BD9-81ED-4DB2-BD59-A6C34878D82A}">
                    <a16:rowId xmlns:a16="http://schemas.microsoft.com/office/drawing/2014/main" val="3877509688"/>
                  </a:ext>
                </a:extLst>
              </a:tr>
              <a:tr h="2452114">
                <a:tc>
                  <a:txBody>
                    <a:bodyPr/>
                    <a:lstStyle/>
                    <a:p>
                      <a:pPr algn="ctr"/>
                      <a:r>
                        <a:rPr lang="en-IN" dirty="0"/>
                        <a:t>2</a:t>
                      </a:r>
                    </a:p>
                  </a:txBody>
                  <a:tcPr/>
                </a:tc>
                <a:tc>
                  <a:txBody>
                    <a:bodyPr/>
                    <a:lstStyle/>
                    <a:p>
                      <a:pPr lvl="0" algn="l">
                        <a:buNone/>
                      </a:pPr>
                      <a:r>
                        <a:rPr lang="en-IN" sz="1400" b="0" u="none" strike="noStrike" noProof="0" dirty="0"/>
                        <a:t>Yiheng Liu, Hao Hea, Tianle Hana, Xu Zhanga, Mengyuan Liua, Jiaming Tian</a:t>
                      </a:r>
                      <a:endParaRPr lang="en-US" sz="1400" dirty="0">
                        <a:latin typeface="Times New Roman"/>
                      </a:endParaRPr>
                    </a:p>
                  </a:txBody>
                  <a:tcPr/>
                </a:tc>
                <a:tc>
                  <a:txBody>
                    <a:bodyPr/>
                    <a:lstStyle/>
                    <a:p>
                      <a:pPr lvl="0" algn="l">
                        <a:buNone/>
                      </a:pPr>
                      <a:r>
                        <a:rPr lang="en-IN" sz="1600" b="1" u="none" strike="noStrike" noProof="0" dirty="0"/>
                        <a:t>Understanding LLMs: A comprehensive overview from training to inference</a:t>
                      </a:r>
                      <a:endParaRPr lang="en-US" sz="1600" b="1" dirty="0">
                        <a:latin typeface="Times New Roman"/>
                      </a:endParaRPr>
                    </a:p>
                  </a:txBody>
                  <a:tcPr/>
                </a:tc>
                <a:tc>
                  <a:txBody>
                    <a:bodyPr/>
                    <a:lstStyle/>
                    <a:p>
                      <a:pPr lvl="0" algn="l">
                        <a:buNone/>
                      </a:pPr>
                      <a:r>
                        <a:rPr lang="en-IN" sz="1200" b="0" u="none" strike="noStrike" noProof="0" dirty="0"/>
                        <a:t>This paper offers an in-depth technical overview of large language models (LLMs), covering their architectures, training methodologies, parallelism techniques, prompt learning, fine-tuning strategies, inference optimization, and open challenges in safety and reliability.</a:t>
                      </a:r>
                      <a:endParaRPr lang="en-US" sz="1200" dirty="0">
                        <a:latin typeface="Times New Roman"/>
                      </a:endParaRPr>
                    </a:p>
                  </a:txBody>
                  <a:tcPr/>
                </a:tc>
                <a:tc>
                  <a:txBody>
                    <a:bodyPr/>
                    <a:lstStyle/>
                    <a:p>
                      <a:pPr lvl="0" algn="l">
                        <a:buNone/>
                      </a:pPr>
                      <a:r>
                        <a:rPr lang="en-IN" sz="1200" b="0" u="none" strike="noStrike" noProof="0" dirty="0"/>
                        <a:t>Despite significant advances, the paper highlights open problems in dynamic memory management, contextual retention, prompt optimization, and alignment of LLMs for stable long-term interactions—areas suitable for your project's proposed framework.</a:t>
                      </a:r>
                      <a:endParaRPr lang="en-US" sz="1200" dirty="0">
                        <a:latin typeface="Times New Roman"/>
                      </a:endParaRPr>
                    </a:p>
                  </a:txBody>
                  <a:tcPr/>
                </a:tc>
                <a:extLst>
                  <a:ext uri="{0D108BD9-81ED-4DB2-BD59-A6C34878D82A}">
                    <a16:rowId xmlns:a16="http://schemas.microsoft.com/office/drawing/2014/main" val="3917762837"/>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2A3D-031F-0123-1B1D-DCEF631FA887}"/>
            </a:ext>
          </a:extLst>
        </p:cNvPr>
        <p:cNvGrpSpPr/>
        <p:nvPr/>
      </p:nvGrpSpPr>
      <p:grpSpPr>
        <a:xfrm>
          <a:off x="0" y="0"/>
          <a:ext cx="0" cy="0"/>
          <a:chOff x="0" y="0"/>
          <a:chExt cx="0" cy="0"/>
        </a:xfrm>
      </p:grpSpPr>
      <p:sp>
        <p:nvSpPr>
          <p:cNvPr id="156" name="Slide Number">
            <a:extLst>
              <a:ext uri="{FF2B5EF4-FFF2-40B4-BE49-F238E27FC236}">
                <a16:creationId xmlns:a16="http://schemas.microsoft.com/office/drawing/2014/main" id="{B4063736-430A-1CA9-0B50-3B3B4D6E33FA}"/>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5</a:t>
            </a:fld>
            <a:endParaRPr dirty="0"/>
          </a:p>
        </p:txBody>
      </p:sp>
      <p:sp>
        <p:nvSpPr>
          <p:cNvPr id="157" name="Motivation">
            <a:extLst>
              <a:ext uri="{FF2B5EF4-FFF2-40B4-BE49-F238E27FC236}">
                <a16:creationId xmlns:a16="http://schemas.microsoft.com/office/drawing/2014/main" id="{94285AA2-0415-402A-2846-21A4D52EB81A}"/>
              </a:ext>
            </a:extLst>
          </p:cNvPr>
          <p:cNvSpPr txBox="1">
            <a:spLocks noGrp="1"/>
          </p:cNvSpPr>
          <p:nvPr>
            <p:ph type="title"/>
          </p:nvPr>
        </p:nvSpPr>
        <p:spPr>
          <a:xfrm>
            <a:off x="999435" y="2711"/>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Literature Survey</a:t>
            </a:r>
            <a:endParaRPr sz="3200" dirty="0"/>
          </a:p>
        </p:txBody>
      </p:sp>
      <p:graphicFrame>
        <p:nvGraphicFramePr>
          <p:cNvPr id="2" name="Table 2">
            <a:extLst>
              <a:ext uri="{FF2B5EF4-FFF2-40B4-BE49-F238E27FC236}">
                <a16:creationId xmlns:a16="http://schemas.microsoft.com/office/drawing/2014/main" id="{A757D856-C454-D89F-6FDC-C5039987456A}"/>
              </a:ext>
            </a:extLst>
          </p:cNvPr>
          <p:cNvGraphicFramePr>
            <a:graphicFrameLocks noGrp="1"/>
          </p:cNvGraphicFramePr>
          <p:nvPr>
            <p:extLst>
              <p:ext uri="{D42A27DB-BD31-4B8C-83A1-F6EECF244321}">
                <p14:modId xmlns:p14="http://schemas.microsoft.com/office/powerpoint/2010/main" val="2702476978"/>
              </p:ext>
            </p:extLst>
          </p:nvPr>
        </p:nvGraphicFramePr>
        <p:xfrm>
          <a:off x="364435" y="1071217"/>
          <a:ext cx="8542012" cy="5780349"/>
        </p:xfrm>
        <a:graphic>
          <a:graphicData uri="http://schemas.openxmlformats.org/drawingml/2006/table">
            <a:tbl>
              <a:tblPr firstRow="1" bandRow="1">
                <a:tableStyleId>{10A1B5D5-9B99-4C35-A422-299274C87663}</a:tableStyleId>
              </a:tblPr>
              <a:tblGrid>
                <a:gridCol w="532819">
                  <a:extLst>
                    <a:ext uri="{9D8B030D-6E8A-4147-A177-3AD203B41FA5}">
                      <a16:colId xmlns:a16="http://schemas.microsoft.com/office/drawing/2014/main" val="3359582560"/>
                    </a:ext>
                  </a:extLst>
                </a:gridCol>
                <a:gridCol w="1394041">
                  <a:extLst>
                    <a:ext uri="{9D8B030D-6E8A-4147-A177-3AD203B41FA5}">
                      <a16:colId xmlns:a16="http://schemas.microsoft.com/office/drawing/2014/main" val="246789036"/>
                    </a:ext>
                  </a:extLst>
                </a:gridCol>
                <a:gridCol w="2056124">
                  <a:extLst>
                    <a:ext uri="{9D8B030D-6E8A-4147-A177-3AD203B41FA5}">
                      <a16:colId xmlns:a16="http://schemas.microsoft.com/office/drawing/2014/main" val="2085544661"/>
                    </a:ext>
                  </a:extLst>
                </a:gridCol>
                <a:gridCol w="2286719">
                  <a:extLst>
                    <a:ext uri="{9D8B030D-6E8A-4147-A177-3AD203B41FA5}">
                      <a16:colId xmlns:a16="http://schemas.microsoft.com/office/drawing/2014/main" val="1277987297"/>
                    </a:ext>
                  </a:extLst>
                </a:gridCol>
                <a:gridCol w="2272309">
                  <a:extLst>
                    <a:ext uri="{9D8B030D-6E8A-4147-A177-3AD203B41FA5}">
                      <a16:colId xmlns:a16="http://schemas.microsoft.com/office/drawing/2014/main" val="3529693153"/>
                    </a:ext>
                  </a:extLst>
                </a:gridCol>
              </a:tblGrid>
              <a:tr h="607482">
                <a:tc>
                  <a:txBody>
                    <a:bodyPr/>
                    <a:lstStyle/>
                    <a:p>
                      <a:pPr algn="ctr"/>
                      <a:r>
                        <a:rPr lang="en-IN" sz="1400" dirty="0"/>
                        <a:t>S.No.</a:t>
                      </a:r>
                    </a:p>
                  </a:txBody>
                  <a:tcPr/>
                </a:tc>
                <a:tc>
                  <a:txBody>
                    <a:bodyPr/>
                    <a:lstStyle/>
                    <a:p>
                      <a:pPr algn="ctr"/>
                      <a:r>
                        <a:rPr lang="en-IN" sz="1500" dirty="0"/>
                        <a:t>Authors name(s)</a:t>
                      </a:r>
                    </a:p>
                  </a:txBody>
                  <a:tcPr/>
                </a:tc>
                <a:tc>
                  <a:txBody>
                    <a:bodyPr/>
                    <a:lstStyle/>
                    <a:p>
                      <a:pPr algn="ctr"/>
                      <a:r>
                        <a:rPr lang="en-IN" sz="1500" dirty="0"/>
                        <a:t>Full title of the paper with year</a:t>
                      </a:r>
                    </a:p>
                  </a:txBody>
                  <a:tcPr/>
                </a:tc>
                <a:tc>
                  <a:txBody>
                    <a:bodyPr/>
                    <a:lstStyle/>
                    <a:p>
                      <a:pPr algn="ctr"/>
                      <a:r>
                        <a:rPr lang="en-IN" sz="1500" dirty="0"/>
                        <a:t>Inference from the paper</a:t>
                      </a:r>
                    </a:p>
                  </a:txBody>
                  <a:tcPr/>
                </a:tc>
                <a:tc>
                  <a:txBody>
                    <a:bodyPr/>
                    <a:lstStyle/>
                    <a:p>
                      <a:pPr algn="ctr"/>
                      <a:r>
                        <a:rPr lang="en-IN" sz="1500" dirty="0"/>
                        <a:t>Open Problem (For proposed work)</a:t>
                      </a:r>
                    </a:p>
                  </a:txBody>
                  <a:tcPr/>
                </a:tc>
                <a:extLst>
                  <a:ext uri="{0D108BD9-81ED-4DB2-BD59-A6C34878D82A}">
                    <a16:rowId xmlns:a16="http://schemas.microsoft.com/office/drawing/2014/main" val="1015962150"/>
                  </a:ext>
                </a:extLst>
              </a:tr>
              <a:tr h="2353996">
                <a:tc>
                  <a:txBody>
                    <a:bodyPr/>
                    <a:lstStyle/>
                    <a:p>
                      <a:pPr algn="ctr"/>
                      <a:endParaRPr lang="en-IN" sz="1200" dirty="0"/>
                    </a:p>
                    <a:p>
                      <a:pPr lvl="0" algn="ctr">
                        <a:buNone/>
                      </a:pPr>
                      <a:endParaRPr lang="en-IN" sz="1200" dirty="0"/>
                    </a:p>
                    <a:p>
                      <a:pPr lvl="0" algn="ctr">
                        <a:buNone/>
                      </a:pPr>
                      <a:endParaRPr lang="en-IN" sz="1200" dirty="0"/>
                    </a:p>
                    <a:p>
                      <a:pPr lvl="0" algn="ctr">
                        <a:buNone/>
                      </a:pPr>
                      <a:endParaRPr lang="en-IN" sz="1200" dirty="0"/>
                    </a:p>
                    <a:p>
                      <a:pPr lvl="0" algn="ctr">
                        <a:buNone/>
                      </a:pPr>
                      <a:r>
                        <a:rPr lang="en-IN" sz="1200" dirty="0"/>
                        <a:t>3</a:t>
                      </a:r>
                    </a:p>
                  </a:txBody>
                  <a:tcPr/>
                </a:tc>
                <a:tc>
                  <a:txBody>
                    <a:bodyPr/>
                    <a:lstStyle/>
                    <a:p>
                      <a:pPr lvl="0" algn="l">
                        <a:buNone/>
                      </a:pPr>
                      <a:r>
                        <a:rPr lang="en-IN" sz="1200" b="0" u="none" strike="noStrike" noProof="0" dirty="0"/>
                        <a:t>Qingyue Wanga , Yanhe Fub , Yanan Caob,∗ , Shuai Wanga , Zhiliang Tianc , Liang Dingd</a:t>
                      </a:r>
                      <a:endParaRPr lang="en-US" dirty="0">
                        <a:latin typeface="Times New Roman"/>
                      </a:endParaRPr>
                    </a:p>
                  </a:txBody>
                  <a:tcPr/>
                </a:tc>
                <a:tc>
                  <a:txBody>
                    <a:bodyPr/>
                    <a:lstStyle/>
                    <a:p>
                      <a:pPr lvl="0" algn="l">
                        <a:lnSpc>
                          <a:spcPct val="100000"/>
                        </a:lnSpc>
                        <a:spcBef>
                          <a:spcPts val="0"/>
                        </a:spcBef>
                        <a:spcAft>
                          <a:spcPts val="0"/>
                        </a:spcAft>
                        <a:buNone/>
                      </a:pPr>
                      <a:r>
                        <a:rPr lang="en-IN" b="1" dirty="0">
                          <a:solidFill>
                            <a:srgbClr val="302A21"/>
                          </a:solidFill>
                        </a:rPr>
                        <a:t>Recursively Summarizing Enables Long-Term Dialogue Memory in Large Language Models</a:t>
                      </a:r>
                      <a:endParaRPr lang="en-US" b="1" dirty="0"/>
                    </a:p>
                    <a:p>
                      <a:pPr lvl="0" algn="l">
                        <a:buNone/>
                      </a:pPr>
                      <a:r>
                        <a:rPr lang="en-IN" sz="1200" b="1" u="none" strike="noStrike" noProof="0" dirty="0"/>
                        <a:t>(2025)</a:t>
                      </a:r>
                      <a:endParaRPr lang="en-IN" sz="1200" b="1" i="0" u="none" strike="noStrike" noProof="0" dirty="0">
                        <a:latin typeface="Times New Roman"/>
                      </a:endParaRPr>
                    </a:p>
                  </a:txBody>
                  <a:tcPr/>
                </a:tc>
                <a:tc>
                  <a:txBody>
                    <a:bodyPr/>
                    <a:lstStyle/>
                    <a:p>
                      <a:pPr lvl="0" algn="l">
                        <a:lnSpc>
                          <a:spcPct val="100000"/>
                        </a:lnSpc>
                        <a:spcBef>
                          <a:spcPts val="0"/>
                        </a:spcBef>
                        <a:spcAft>
                          <a:spcPts val="0"/>
                        </a:spcAft>
                        <a:buNone/>
                      </a:pPr>
                      <a:r>
                        <a:rPr lang="en-IN" sz="1300" b="0" u="none" strike="noStrike" noProof="0" dirty="0"/>
                        <a:t>The paper shows that recursively condensing past dialogues into compact, context-rich summaries enables LLMs to sustain coherence over long interactions. This approach reduces token usage, prevents context loss, and optimizes memory while maintaining high response relevance.</a:t>
                      </a:r>
                      <a:endParaRPr lang="en-US" sz="1300" dirty="0"/>
                    </a:p>
                    <a:p>
                      <a:pPr lvl="0" algn="just">
                        <a:buNone/>
                      </a:pPr>
                      <a:endParaRPr lang="en-IN" sz="1300" b="0" i="0" u="none" strike="noStrike" noProof="0" dirty="0">
                        <a:latin typeface="Times New Roman"/>
                      </a:endParaRPr>
                    </a:p>
                  </a:txBody>
                  <a:tcPr/>
                </a:tc>
                <a:tc>
                  <a:txBody>
                    <a:bodyPr/>
                    <a:lstStyle/>
                    <a:p>
                      <a:pPr lvl="0" algn="l">
                        <a:lnSpc>
                          <a:spcPct val="100000"/>
                        </a:lnSpc>
                        <a:spcBef>
                          <a:spcPts val="0"/>
                        </a:spcBef>
                        <a:spcAft>
                          <a:spcPts val="0"/>
                        </a:spcAft>
                        <a:buNone/>
                      </a:pPr>
                      <a:r>
                        <a:rPr lang="en-IN" sz="1400" b="0" u="none" strike="noStrike" noProof="0" dirty="0"/>
                        <a:t>Recursive summarization can cause gradual loss of subtle yet important details over time, affecting nuanced tasks. It also lacks adaptive, user-driven control for selectively preserving or discarding context.</a:t>
                      </a:r>
                      <a:endParaRPr lang="en-US" sz="1400" dirty="0"/>
                    </a:p>
                    <a:p>
                      <a:pPr lvl="0" algn="just">
                        <a:buNone/>
                      </a:pPr>
                      <a:endParaRPr lang="en-IN" sz="1300" b="0" i="0" u="none" strike="noStrike" noProof="0" dirty="0">
                        <a:latin typeface="Times New Roman"/>
                      </a:endParaRPr>
                    </a:p>
                  </a:txBody>
                  <a:tcPr/>
                </a:tc>
                <a:extLst>
                  <a:ext uri="{0D108BD9-81ED-4DB2-BD59-A6C34878D82A}">
                    <a16:rowId xmlns:a16="http://schemas.microsoft.com/office/drawing/2014/main" val="3877509688"/>
                  </a:ext>
                </a:extLst>
              </a:tr>
              <a:tr h="2505867">
                <a:tc>
                  <a:txBody>
                    <a:bodyPr/>
                    <a:lstStyle/>
                    <a:p>
                      <a:pPr algn="ctr"/>
                      <a:r>
                        <a:rPr lang="en-IN" dirty="0"/>
                        <a:t>4</a:t>
                      </a:r>
                    </a:p>
                  </a:txBody>
                  <a:tcPr/>
                </a:tc>
                <a:tc>
                  <a:txBody>
                    <a:bodyPr/>
                    <a:lstStyle/>
                    <a:p>
                      <a:pPr lvl="0" algn="l">
                        <a:lnSpc>
                          <a:spcPct val="100000"/>
                        </a:lnSpc>
                        <a:spcBef>
                          <a:spcPts val="0"/>
                        </a:spcBef>
                        <a:spcAft>
                          <a:spcPts val="0"/>
                        </a:spcAft>
                        <a:buNone/>
                      </a:pPr>
                      <a:r>
                        <a:rPr lang="en-IN" sz="1200" b="0" u="none" strike="noStrike" noProof="0" dirty="0">
                          <a:solidFill>
                            <a:srgbClr val="302A21"/>
                          </a:solidFill>
                        </a:rPr>
                        <a:t>Pranab Sahoo, Ayush Kumar Singh, Sriparna Saha, Vinija Jain, Samrat Mondal, and Aman Chadha</a:t>
                      </a:r>
                      <a:endParaRPr lang="en-US" dirty="0"/>
                    </a:p>
                    <a:p>
                      <a:pPr lvl="0" algn="l">
                        <a:buNone/>
                      </a:pPr>
                      <a:endParaRPr lang="en-IN" sz="1400" b="0" i="0" u="none" strike="noStrike" noProof="0" dirty="0">
                        <a:latin typeface="Times New Roman"/>
                      </a:endParaRPr>
                    </a:p>
                  </a:txBody>
                  <a:tcPr/>
                </a:tc>
                <a:tc>
                  <a:txBody>
                    <a:bodyPr/>
                    <a:lstStyle/>
                    <a:p>
                      <a:pPr lvl="0" algn="l">
                        <a:buNone/>
                      </a:pPr>
                      <a:r>
                        <a:rPr lang="en-IN" sz="1200" b="1" u="none" strike="noStrike" noProof="0" dirty="0"/>
                        <a:t>The Prompt Report: A Systematic Survey of Prompt Engineering Techniques(2025)</a:t>
                      </a:r>
                      <a:endParaRPr lang="en-US" b="1" dirty="0">
                        <a:latin typeface="Times New Roman"/>
                      </a:endParaRPr>
                    </a:p>
                  </a:txBody>
                  <a:tcPr/>
                </a:tc>
                <a:tc>
                  <a:txBody>
                    <a:bodyPr/>
                    <a:lstStyle/>
                    <a:p>
                      <a:pPr lvl="0" algn="just">
                        <a:buNone/>
                      </a:pPr>
                      <a:r>
                        <a:rPr lang="en-IN" sz="1300" b="0" u="none" strike="noStrike" noProof="0" dirty="0"/>
                        <a:t>Prompt engineering in artificial intelligence unlocks model potential by using task-specific prompts without modifying core parameters, enhancing model capabilities for reasoning, question answering, and code generation.</a:t>
                      </a:r>
                      <a:endParaRPr lang="en-US" sz="1300" dirty="0">
                        <a:latin typeface="Times New Roman"/>
                      </a:endParaRPr>
                    </a:p>
                  </a:txBody>
                  <a:tcPr/>
                </a:tc>
                <a:tc>
                  <a:txBody>
                    <a:bodyPr/>
                    <a:lstStyle/>
                    <a:p>
                      <a:pPr lvl="0" algn="just">
                        <a:buNone/>
                      </a:pPr>
                      <a:r>
                        <a:rPr lang="en-IN" sz="1300" b="0" u="none" strike="noStrike" noProof="0" dirty="0"/>
                        <a:t>Prompt engineering faces challenges like model output biases, inaccuracies, and interpretability gaps, necessitating ongoing research to improve reliability, ethical deployment, and address unresolved issues.</a:t>
                      </a:r>
                      <a:endParaRPr lang="en-US" sz="1300" dirty="0">
                        <a:latin typeface="Times New Roman"/>
                      </a:endParaRPr>
                    </a:p>
                  </a:txBody>
                  <a:tcPr/>
                </a:tc>
                <a:extLst>
                  <a:ext uri="{0D108BD9-81ED-4DB2-BD59-A6C34878D82A}">
                    <a16:rowId xmlns:a16="http://schemas.microsoft.com/office/drawing/2014/main" val="3917762837"/>
                  </a:ext>
                </a:extLst>
              </a:tr>
            </a:tbl>
          </a:graphicData>
        </a:graphic>
      </p:graphicFrame>
    </p:spTree>
    <p:extLst>
      <p:ext uri="{BB962C8B-B14F-4D97-AF65-F5344CB8AC3E}">
        <p14:creationId xmlns:p14="http://schemas.microsoft.com/office/powerpoint/2010/main" val="191386402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otivation"/>
          <p:cNvSpPr txBox="1">
            <a:spLocks noGrp="1"/>
          </p:cNvSpPr>
          <p:nvPr>
            <p:ph type="title"/>
          </p:nvPr>
        </p:nvSpPr>
        <p:spPr>
          <a:xfrm>
            <a:off x="1282182" y="286916"/>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Justification for the Proposed Problem</a:t>
            </a:r>
            <a:endParaRPr sz="3200" dirty="0"/>
          </a:p>
        </p:txBody>
      </p:sp>
      <p:sp>
        <p:nvSpPr>
          <p:cNvPr id="4" name="Group"/>
          <p:cNvSpPr/>
          <p:nvPr/>
        </p:nvSpPr>
        <p:spPr>
          <a:xfrm>
            <a:off x="557504" y="1712776"/>
            <a:ext cx="8052318" cy="2375420"/>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tIns="45720" rIns="45719" bIns="45720" anchor="t"/>
          <a:lstStyle/>
          <a:p>
            <a:pPr algn="just">
              <a:buFont typeface="Arial" panose="020B0604020202020204" pitchFamily="34" charset="0"/>
              <a:buChar char="•"/>
            </a:pPr>
            <a:r>
              <a:rPr lang="en-US" sz="2200" b="1" dirty="0"/>
              <a:t>LLM Context Limits</a:t>
            </a:r>
            <a:r>
              <a:rPr lang="en-US" sz="2200" dirty="0"/>
              <a:t> – Large Language Models have a fixed token limit, so older conversation details are dropped once the window is full, leading to loss of important prior instructions in long interactions.</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b="1" dirty="0"/>
              <a:t>Topic Switch Loss</a:t>
            </a:r>
            <a:r>
              <a:rPr lang="en-US" sz="2200" dirty="0"/>
              <a:t> – Abrupt subject changes push out earlier context, causing the system to forget prior goals or decisions, which disrupts task continuity and consistency.</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b="1" dirty="0"/>
              <a:t>Inefficient Retrieval </a:t>
            </a:r>
            <a:r>
              <a:rPr lang="en-US" sz="2200" dirty="0"/>
              <a:t>– Existing methods like RAG or prompt engineering pull in relevant data but are often static, waste tokens, and do not adapt dynamically during the conversation.</a:t>
            </a:r>
          </a:p>
          <a:p>
            <a:pPr marL="285750" indent="-285750" algn="just">
              <a:lnSpc>
                <a:spcPct val="125000"/>
              </a:lnSpc>
              <a:buFont typeface="Arial" panose="020B0604020202020204" pitchFamily="34" charset="0"/>
              <a:buChar char="•"/>
            </a:pPr>
            <a:endParaRPr lang="en-US" sz="1600" dirty="0"/>
          </a:p>
        </p:txBody>
      </p:sp>
      <p:sp>
        <p:nvSpPr>
          <p:cNvPr id="5" name="Slide Number"/>
          <p:cNvSpPr txBox="1">
            <a:spLocks noGrp="1"/>
          </p:cNvSpPr>
          <p:nvPr>
            <p:ph type="sldNum" sz="quarter" idx="2"/>
          </p:nvPr>
        </p:nvSpPr>
        <p:spPr>
          <a:xfrm>
            <a:off x="8418883" y="381000"/>
            <a:ext cx="191717"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6</a:t>
            </a:r>
            <a:endParaRPr dirty="0"/>
          </a:p>
        </p:txBody>
      </p:sp>
    </p:spTree>
    <p:extLst>
      <p:ext uri="{BB962C8B-B14F-4D97-AF65-F5344CB8AC3E}">
        <p14:creationId xmlns:p14="http://schemas.microsoft.com/office/powerpoint/2010/main" val="91841883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E437C-8070-A681-556A-34D7A75403FC}"/>
            </a:ext>
          </a:extLst>
        </p:cNvPr>
        <p:cNvGrpSpPr/>
        <p:nvPr/>
      </p:nvGrpSpPr>
      <p:grpSpPr>
        <a:xfrm>
          <a:off x="0" y="0"/>
          <a:ext cx="0" cy="0"/>
          <a:chOff x="0" y="0"/>
          <a:chExt cx="0" cy="0"/>
        </a:xfrm>
      </p:grpSpPr>
      <p:sp>
        <p:nvSpPr>
          <p:cNvPr id="3" name="Motivation">
            <a:extLst>
              <a:ext uri="{FF2B5EF4-FFF2-40B4-BE49-F238E27FC236}">
                <a16:creationId xmlns:a16="http://schemas.microsoft.com/office/drawing/2014/main" id="{86608B64-0FED-F6C4-2B80-77A487BEC511}"/>
              </a:ext>
            </a:extLst>
          </p:cNvPr>
          <p:cNvSpPr txBox="1">
            <a:spLocks noGrp="1"/>
          </p:cNvSpPr>
          <p:nvPr>
            <p:ph type="title"/>
          </p:nvPr>
        </p:nvSpPr>
        <p:spPr>
          <a:xfrm>
            <a:off x="1282182" y="286916"/>
            <a:ext cx="6858000" cy="808038"/>
          </a:xfrm>
          <a:prstGeom prst="rect">
            <a:avLst/>
          </a:prstGeom>
        </p:spPr>
        <p:txBody>
          <a:bodyPr>
            <a:normAutofit/>
          </a:bodyPr>
          <a:lstStyle>
            <a:lvl1pPr>
              <a:defRPr>
                <a:latin typeface="Times New Roman"/>
                <a:ea typeface="Times New Roman"/>
                <a:cs typeface="Times New Roman"/>
                <a:sym typeface="Times New Roman"/>
              </a:defRPr>
            </a:lvl1pPr>
          </a:lstStyle>
          <a:p>
            <a:r>
              <a:rPr lang="en-IN" sz="3200" dirty="0"/>
              <a:t>Justification for the Proposed Problem</a:t>
            </a:r>
            <a:endParaRPr sz="3200" dirty="0"/>
          </a:p>
        </p:txBody>
      </p:sp>
      <p:sp>
        <p:nvSpPr>
          <p:cNvPr id="4" name="Group">
            <a:extLst>
              <a:ext uri="{FF2B5EF4-FFF2-40B4-BE49-F238E27FC236}">
                <a16:creationId xmlns:a16="http://schemas.microsoft.com/office/drawing/2014/main" id="{E3391D12-55CE-FE37-13B9-6D795E202727}"/>
              </a:ext>
            </a:extLst>
          </p:cNvPr>
          <p:cNvSpPr/>
          <p:nvPr/>
        </p:nvSpPr>
        <p:spPr>
          <a:xfrm>
            <a:off x="545841" y="1841072"/>
            <a:ext cx="8063981" cy="4078256"/>
          </a:xfrm>
          <a:prstGeom prst="rect">
            <a:avLst/>
          </a:prstGeom>
          <a:solidFill>
            <a:srgbClr val="FFFFFF"/>
          </a:solidFill>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tIns="45720" rIns="45719" bIns="45720" anchor="t"/>
          <a:lstStyle/>
          <a:p>
            <a:pPr algn="just">
              <a:buFont typeface="Arial" panose="020B0604020202020204" pitchFamily="34" charset="0"/>
              <a:buChar char="•"/>
            </a:pPr>
            <a:r>
              <a:rPr lang="en-US" sz="2200" b="1" dirty="0"/>
              <a:t>No User-Tailored Memory </a:t>
            </a:r>
            <a:r>
              <a:rPr lang="en-US" sz="2200" dirty="0"/>
              <a:t>– Users lack flexibility to “pin” important context or remove outdated details, resulting in either irrelevant clutter or missing critical cues in responses.</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b="1" dirty="0"/>
              <a:t>Research Gaps</a:t>
            </a:r>
            <a:r>
              <a:rPr lang="en-US" sz="2200" dirty="0"/>
              <a:t> – Literature shows no comprehensive solution for adaptive summarization, consistent benchmarks for memory performance, or cost–context optimization in LLM systems.</a:t>
            </a:r>
          </a:p>
          <a:p>
            <a:pPr algn="just">
              <a:buFont typeface="Arial" panose="020B0604020202020204" pitchFamily="34" charset="0"/>
              <a:buChar char="•"/>
            </a:pPr>
            <a:endParaRPr lang="en-US" sz="2200" dirty="0"/>
          </a:p>
          <a:p>
            <a:pPr algn="just">
              <a:buFont typeface="Arial" panose="020B0604020202020204" pitchFamily="34" charset="0"/>
              <a:buChar char="•"/>
            </a:pPr>
            <a:r>
              <a:rPr lang="en-US" sz="2200" b="1" dirty="0"/>
              <a:t>Real-World Need</a:t>
            </a:r>
            <a:r>
              <a:rPr lang="en-US" sz="2200" dirty="0"/>
              <a:t> – Industries demand AI that remembers instructions over time, adapts efficiently, and minimizes cost, especially in high-stakes contexts like healthcare, education, and legal work.</a:t>
            </a:r>
          </a:p>
          <a:p>
            <a:pPr algn="just">
              <a:buFont typeface="Arial" panose="020B0604020202020204" pitchFamily="34" charset="0"/>
              <a:buChar char="•"/>
            </a:pPr>
            <a:endParaRPr lang="en-US" sz="2200" dirty="0"/>
          </a:p>
        </p:txBody>
      </p:sp>
      <p:sp>
        <p:nvSpPr>
          <p:cNvPr id="5" name="Slide Number">
            <a:extLst>
              <a:ext uri="{FF2B5EF4-FFF2-40B4-BE49-F238E27FC236}">
                <a16:creationId xmlns:a16="http://schemas.microsoft.com/office/drawing/2014/main" id="{406AD6B2-3A3B-C559-AE04-1237485549CD}"/>
              </a:ext>
            </a:extLst>
          </p:cNvPr>
          <p:cNvSpPr txBox="1">
            <a:spLocks noGrp="1"/>
          </p:cNvSpPr>
          <p:nvPr>
            <p:ph type="sldNum" sz="quarter" idx="2"/>
          </p:nvPr>
        </p:nvSpPr>
        <p:spPr>
          <a:xfrm>
            <a:off x="8418883" y="381000"/>
            <a:ext cx="191717" cy="307777"/>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r>
              <a:rPr lang="en-US" dirty="0"/>
              <a:t>6</a:t>
            </a:r>
            <a:endParaRPr dirty="0"/>
          </a:p>
        </p:txBody>
      </p:sp>
    </p:spTree>
    <p:extLst>
      <p:ext uri="{BB962C8B-B14F-4D97-AF65-F5344CB8AC3E}">
        <p14:creationId xmlns:p14="http://schemas.microsoft.com/office/powerpoint/2010/main" val="105233413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589" y="1333045"/>
            <a:ext cx="7315200" cy="887641"/>
          </a:xfrm>
        </p:spPr>
        <p:txBody>
          <a:bodyPr/>
          <a:lstStyle/>
          <a:p>
            <a:r>
              <a:rPr lang="en-US" sz="3200" dirty="0">
                <a:latin typeface="Times New Roman" panose="02020603050405020304" pitchFamily="18" charset="0"/>
                <a:cs typeface="Times New Roman" panose="02020603050405020304" pitchFamily="18" charset="0"/>
              </a:rPr>
              <a:t>Software/Tools Requirements</a:t>
            </a:r>
            <a:endParaRPr lang="en-IN" sz="3200" dirty="0">
              <a:latin typeface="Times New Roman" panose="02020603050405020304" pitchFamily="18" charset="0"/>
              <a:cs typeface="Times New Roman" panose="02020603050405020304" pitchFamily="18" charset="0"/>
            </a:endParaRPr>
          </a:p>
        </p:txBody>
      </p:sp>
      <p:sp>
        <p:nvSpPr>
          <p:cNvPr id="5"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dirty="0"/>
              <a:t>13</a:t>
            </a:r>
            <a:endParaRPr dirty="0"/>
          </a:p>
        </p:txBody>
      </p:sp>
      <p:sp>
        <p:nvSpPr>
          <p:cNvPr id="4" name="TextBox 3">
            <a:extLst>
              <a:ext uri="{FF2B5EF4-FFF2-40B4-BE49-F238E27FC236}">
                <a16:creationId xmlns:a16="http://schemas.microsoft.com/office/drawing/2014/main" id="{5785B6EB-162D-2BFD-3C1D-EFDF3478D263}"/>
              </a:ext>
            </a:extLst>
          </p:cNvPr>
          <p:cNvSpPr txBox="1"/>
          <p:nvPr/>
        </p:nvSpPr>
        <p:spPr>
          <a:xfrm>
            <a:off x="921041" y="2095704"/>
            <a:ext cx="7541865" cy="40934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marL="457200" indent="-457200">
              <a:buAutoNum type="arabicPeriod"/>
            </a:pPr>
            <a:r>
              <a:rPr lang="en-US" sz="2000" b="1" dirty="0"/>
              <a:t>Programming Languages:</a:t>
            </a:r>
            <a:r>
              <a:rPr lang="en-US" sz="2000" dirty="0"/>
              <a:t> Python</a:t>
            </a:r>
            <a:endParaRPr lang="en-US" dirty="0"/>
          </a:p>
          <a:p>
            <a:pPr marL="457200" indent="-457200">
              <a:buAutoNum type="arabicPeriod"/>
            </a:pPr>
            <a:r>
              <a:rPr lang="en-US" sz="2000" b="1" dirty="0"/>
              <a:t> Machine Learning Frameworks:</a:t>
            </a:r>
            <a:r>
              <a:rPr lang="en-US" sz="2000" dirty="0"/>
              <a:t> PyTorch or TensorFlow (for developing and fine-tuning models) </a:t>
            </a:r>
            <a:endParaRPr lang="en-US" dirty="0"/>
          </a:p>
          <a:p>
            <a:pPr marL="457200" indent="-457200">
              <a:buAutoNum type="arabicPeriod"/>
            </a:pPr>
            <a:r>
              <a:rPr lang="en-US" sz="2000" b="1" dirty="0"/>
              <a:t>NLP Libraries:</a:t>
            </a:r>
            <a:r>
              <a:rPr lang="en-US" sz="2000" dirty="0"/>
              <a:t> Hugging Face Transformers </a:t>
            </a:r>
            <a:endParaRPr lang="en-US" dirty="0"/>
          </a:p>
          <a:p>
            <a:pPr marL="457200" indent="-457200">
              <a:buAutoNum type="arabicPeriod"/>
            </a:pPr>
            <a:r>
              <a:rPr lang="en-US" sz="2000" b="1" dirty="0"/>
              <a:t>Data Storage:</a:t>
            </a:r>
            <a:r>
              <a:rPr lang="en-US" sz="2000" dirty="0"/>
              <a:t> Databases or file systems to handle persistent memory (Supabase and simple JSON files) </a:t>
            </a:r>
            <a:endParaRPr lang="en-US" dirty="0"/>
          </a:p>
          <a:p>
            <a:pPr marL="457200" indent="-457200">
              <a:buAutoNum type="arabicPeriod"/>
            </a:pPr>
            <a:r>
              <a:rPr lang="en-US" sz="2000" b="1" dirty="0"/>
              <a:t>Version Control:</a:t>
            </a:r>
            <a:r>
              <a:rPr lang="en-US" sz="2000" dirty="0"/>
              <a:t> Git </a:t>
            </a:r>
            <a:endParaRPr lang="en-US" dirty="0"/>
          </a:p>
          <a:p>
            <a:pPr marL="457200" indent="-457200">
              <a:buAutoNum type="arabicPeriod"/>
            </a:pPr>
            <a:r>
              <a:rPr lang="en-US" sz="2000" b="1" dirty="0"/>
              <a:t>Development Environment: </a:t>
            </a:r>
            <a:r>
              <a:rPr lang="en-US" sz="2000" dirty="0"/>
              <a:t>Visual Studio Code</a:t>
            </a:r>
            <a:endParaRPr lang="en-US" dirty="0"/>
          </a:p>
          <a:p>
            <a:pPr marL="457200" indent="-457200">
              <a:buAutoNum type="arabicPeriod"/>
            </a:pPr>
            <a:r>
              <a:rPr lang="en-US" sz="2000" b="1" dirty="0"/>
              <a:t> REST APIs</a:t>
            </a:r>
            <a:endParaRPr lang="en-US" b="1" dirty="0"/>
          </a:p>
          <a:p>
            <a:pPr marL="457200" indent="-457200">
              <a:buAutoNum type="arabicPeriod"/>
            </a:pPr>
            <a:r>
              <a:rPr lang="en-US" sz="2000" b="1" dirty="0"/>
              <a:t> Prompt Management Tools:</a:t>
            </a:r>
            <a:r>
              <a:rPr lang="en-US" sz="2000" dirty="0"/>
              <a:t> Libraries or modules developed to handle prompt optimization and context summarization </a:t>
            </a:r>
            <a:endParaRPr lang="en-US" dirty="0"/>
          </a:p>
          <a:p>
            <a:pPr marL="457200" indent="-457200">
              <a:buAutoNum type="arabicPeriod"/>
            </a:pPr>
            <a:r>
              <a:rPr lang="en-US" sz="2000" b="1" dirty="0"/>
              <a:t>Visualization and Debugging:</a:t>
            </a:r>
            <a:r>
              <a:rPr lang="en-US" sz="2000" dirty="0"/>
              <a:t> Tools like </a:t>
            </a:r>
            <a:r>
              <a:rPr lang="en-US" sz="2000" dirty="0" err="1"/>
              <a:t>TensorBoard</a:t>
            </a:r>
            <a:r>
              <a:rPr lang="en-US" sz="2000" dirty="0"/>
              <a:t>, matplotlib, or other relevant visualization libraries</a:t>
            </a:r>
            <a:endParaRPr lang="en-US" dirty="0"/>
          </a:p>
        </p:txBody>
      </p:sp>
    </p:spTree>
    <p:extLst>
      <p:ext uri="{BB962C8B-B14F-4D97-AF65-F5344CB8AC3E}">
        <p14:creationId xmlns:p14="http://schemas.microsoft.com/office/powerpoint/2010/main" val="241652942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953589" y="1010911"/>
            <a:ext cx="7315200" cy="88764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4572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9144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13716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182880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a:lstStyle>
          <a:p>
            <a:pPr hangingPunct="1"/>
            <a:r>
              <a:rPr lang="en-IN" sz="3200">
                <a:latin typeface="Times New Roman" panose="02020603050405020304" pitchFamily="18" charset="0"/>
                <a:cs typeface="Times New Roman" panose="02020603050405020304" pitchFamily="18" charset="0"/>
              </a:rPr>
              <a:t>Data Set </a:t>
            </a:r>
            <a:r>
              <a:rPr lang="en-IN" sz="2400">
                <a:solidFill>
                  <a:srgbClr val="FF0000"/>
                </a:solidFill>
                <a:latin typeface="Times New Roman" panose="02020603050405020304" pitchFamily="18" charset="0"/>
                <a:cs typeface="Times New Roman" panose="02020603050405020304" pitchFamily="18" charset="0"/>
              </a:rPr>
              <a:t>&lt;&lt;optional&gt;&gt;</a:t>
            </a:r>
          </a:p>
        </p:txBody>
      </p:sp>
      <p:sp>
        <p:nvSpPr>
          <p:cNvPr id="4" name="TextBox 3"/>
          <p:cNvSpPr txBox="1"/>
          <p:nvPr/>
        </p:nvSpPr>
        <p:spPr>
          <a:xfrm>
            <a:off x="627017" y="1690289"/>
            <a:ext cx="7968343" cy="1077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IN" sz="2400"/>
              <a:t>Source of data set: </a:t>
            </a:r>
          </a:p>
          <a:p>
            <a:r>
              <a:rPr lang="en-IN" sz="2000">
                <a:solidFill>
                  <a:srgbClr val="FF0000"/>
                </a:solidFill>
              </a:rPr>
              <a:t>&lt;&lt;URL of the website from where data set is obtained&gt;&gt;</a:t>
            </a:r>
          </a:p>
          <a:p>
            <a:r>
              <a:rPr lang="en-US" sz="2000">
                <a:solidFill>
                  <a:srgbClr val="FF0000"/>
                </a:solidFill>
              </a:rPr>
              <a:t>&lt;&lt;Description&gt;&gt;</a:t>
            </a:r>
            <a:endParaRPr lang="en-IN" sz="2000">
              <a:solidFill>
                <a:srgbClr val="FF0000"/>
              </a:solidFill>
            </a:endParaRPr>
          </a:p>
        </p:txBody>
      </p:sp>
      <p:sp>
        <p:nvSpPr>
          <p:cNvPr id="5" name="Slide Number"/>
          <p:cNvSpPr txBox="1">
            <a:spLocks noGrp="1"/>
          </p:cNvSpPr>
          <p:nvPr>
            <p:ph type="sldNum" sz="quarter" idx="2"/>
          </p:nvPr>
        </p:nvSpPr>
        <p:spPr>
          <a:xfrm>
            <a:off x="8319496" y="381000"/>
            <a:ext cx="291104" cy="3077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lang="en-US"/>
              <a:t>14</a:t>
            </a:r>
            <a:endParaRPr/>
          </a:p>
        </p:txBody>
      </p:sp>
    </p:spTree>
    <p:extLst>
      <p:ext uri="{BB962C8B-B14F-4D97-AF65-F5344CB8AC3E}">
        <p14:creationId xmlns:p14="http://schemas.microsoft.com/office/powerpoint/2010/main" val="84806806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996E9-382B-B84C-AAC3-46A960F0BB12}"/>
              </a:ext>
            </a:extLst>
          </p:cNvPr>
          <p:cNvSpPr>
            <a:spLocks noGrp="1"/>
          </p:cNvSpPr>
          <p:nvPr>
            <p:ph type="title"/>
          </p:nvPr>
        </p:nvSpPr>
        <p:spPr>
          <a:xfrm>
            <a:off x="381001" y="955885"/>
            <a:ext cx="8229600" cy="740439"/>
          </a:xfrm>
        </p:spPr>
        <p:txBody>
          <a:bodyPr/>
          <a:lstStyle/>
          <a:p>
            <a:r>
              <a:rPr lang="en-US" sz="3200">
                <a:latin typeface="Times New Roman"/>
                <a:cs typeface="Times New Roman"/>
                <a:sym typeface="Times New Roman"/>
              </a:rPr>
              <a:t>Timeline</a:t>
            </a:r>
          </a:p>
        </p:txBody>
      </p:sp>
      <p:graphicFrame>
        <p:nvGraphicFramePr>
          <p:cNvPr id="3" name="Diagram 2">
            <a:extLst>
              <a:ext uri="{FF2B5EF4-FFF2-40B4-BE49-F238E27FC236}">
                <a16:creationId xmlns:a16="http://schemas.microsoft.com/office/drawing/2014/main" id="{8A60269A-FA76-F14A-9D24-81B24F1694DD}"/>
              </a:ext>
            </a:extLst>
          </p:cNvPr>
          <p:cNvGraphicFramePr/>
          <p:nvPr>
            <p:extLst>
              <p:ext uri="{D42A27DB-BD31-4B8C-83A1-F6EECF244321}">
                <p14:modId xmlns:p14="http://schemas.microsoft.com/office/powerpoint/2010/main" val="676526130"/>
              </p:ext>
            </p:extLst>
          </p:nvPr>
        </p:nvGraphicFramePr>
        <p:xfrm>
          <a:off x="-187" y="1497060"/>
          <a:ext cx="8794376" cy="47871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80FACD9C-967E-6147-9271-D86550BAFC15}"/>
              </a:ext>
            </a:extLst>
          </p:cNvPr>
          <p:cNvSpPr>
            <a:spLocks noGrp="1"/>
          </p:cNvSpPr>
          <p:nvPr>
            <p:ph type="sldNum" sz="quarter" idx="2"/>
          </p:nvPr>
        </p:nvSpPr>
        <p:spPr/>
        <p:txBody>
          <a:bodyPr/>
          <a:lstStyle/>
          <a:p>
            <a:fld id="{86CB4B4D-7CA3-9044-876B-883B54F8677D}" type="slidenum">
              <a:rPr lang="en-IN" smtClean="0"/>
              <a:t>10</a:t>
            </a:fld>
            <a:endParaRPr lang="en-IN"/>
          </a:p>
        </p:txBody>
      </p:sp>
    </p:spTree>
    <p:extLst>
      <p:ext uri="{BB962C8B-B14F-4D97-AF65-F5344CB8AC3E}">
        <p14:creationId xmlns:p14="http://schemas.microsoft.com/office/powerpoint/2010/main" val="120761769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137" y="1137103"/>
            <a:ext cx="8229600" cy="1005206"/>
          </a:xfrm>
        </p:spPr>
        <p:txBody>
          <a:bodyPr/>
          <a:lstStyle/>
          <a:p>
            <a:r>
              <a:rPr lang="en-US" sz="3200" dirty="0">
                <a:latin typeface="Times New Roman"/>
                <a:cs typeface="Times New Roman"/>
              </a:rPr>
              <a:t>Conclusion</a:t>
            </a:r>
            <a:endParaRPr lang="en-IN" sz="3200" dirty="0">
              <a:latin typeface="Times New Roman"/>
              <a:cs typeface="Times New Roman"/>
            </a:endParaRPr>
          </a:p>
        </p:txBody>
      </p:sp>
      <p:sp>
        <p:nvSpPr>
          <p:cNvPr id="3" name="Slide Number Placeholder 2">
            <a:extLst>
              <a:ext uri="{FF2B5EF4-FFF2-40B4-BE49-F238E27FC236}">
                <a16:creationId xmlns:a16="http://schemas.microsoft.com/office/drawing/2014/main" id="{3068D77C-120F-6344-B7B5-1FCADC3AAC31}"/>
              </a:ext>
            </a:extLst>
          </p:cNvPr>
          <p:cNvSpPr>
            <a:spLocks noGrp="1"/>
          </p:cNvSpPr>
          <p:nvPr>
            <p:ph type="sldNum" sz="quarter" idx="2"/>
          </p:nvPr>
        </p:nvSpPr>
        <p:spPr/>
        <p:txBody>
          <a:bodyPr/>
          <a:lstStyle/>
          <a:p>
            <a:fld id="{86CB4B4D-7CA3-9044-876B-883B54F8677D}" type="slidenum">
              <a:rPr lang="en-IN" smtClean="0"/>
              <a:t>11</a:t>
            </a:fld>
            <a:endParaRPr lang="en-IN"/>
          </a:p>
        </p:txBody>
      </p:sp>
      <p:sp>
        <p:nvSpPr>
          <p:cNvPr id="4" name="TextBox 3">
            <a:extLst>
              <a:ext uri="{FF2B5EF4-FFF2-40B4-BE49-F238E27FC236}">
                <a16:creationId xmlns:a16="http://schemas.microsoft.com/office/drawing/2014/main" id="{01E779C2-6AB5-551D-9512-5D11BDCFF4E5}"/>
              </a:ext>
            </a:extLst>
          </p:cNvPr>
          <p:cNvSpPr txBox="1"/>
          <p:nvPr/>
        </p:nvSpPr>
        <p:spPr>
          <a:xfrm>
            <a:off x="686998" y="2129212"/>
            <a:ext cx="7925596" cy="34778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fromWordArt="0" anchor="t" anchorCtr="0" forceAA="0" compatLnSpc="1">
            <a:prstTxWarp prst="textNoShape">
              <a:avLst/>
            </a:prstTxWarp>
            <a:spAutoFit/>
          </a:bodyPr>
          <a:lstStyle/>
          <a:p>
            <a:pPr algn="just"/>
            <a:r>
              <a:rPr lang="en-US" sz="2000" dirty="0"/>
              <a:t>In conclusion, this project envisions a transformative step toward making LLM-based conversational systems truly context-aware, adaptive, and reliable. By dynamically retaining, prioritizing, and optimizing essential prompts while allowing user-tailored control over memory, the proposed framework addresses critical limitations of existing solutions. Its ability to maintain continuity across extended, multi-turn interactions while minimizing token usage positions it as a cost-effective, scalable, and user-centric approach. With applications spanning healthcare, education, legal, and beyond, this solution not only advances research in prompt engineering and memory management but also holds the potential to redefine the efficiency and trustworthiness of AI-driven conversations.</a:t>
            </a:r>
            <a:endParaRPr lang="en-US" dirty="0"/>
          </a:p>
        </p:txBody>
      </p:sp>
    </p:spTree>
    <p:extLst>
      <p:ext uri="{BB962C8B-B14F-4D97-AF65-F5344CB8AC3E}">
        <p14:creationId xmlns:p14="http://schemas.microsoft.com/office/powerpoint/2010/main" val="320774424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Slide Number"/>
          <p:cNvSpPr txBox="1">
            <a:spLocks noGrp="1"/>
          </p:cNvSpPr>
          <p:nvPr>
            <p:ph type="sldNum" sz="quarter" idx="2"/>
          </p:nvPr>
        </p:nvSpPr>
        <p:spPr>
          <a:xfrm>
            <a:off x="8407576" y="381000"/>
            <a:ext cx="203024" cy="28882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12</a:t>
            </a:fld>
            <a:endParaRPr/>
          </a:p>
        </p:txBody>
      </p:sp>
      <p:sp>
        <p:nvSpPr>
          <p:cNvPr id="210" name="References"/>
          <p:cNvSpPr txBox="1">
            <a:spLocks noGrp="1"/>
          </p:cNvSpPr>
          <p:nvPr>
            <p:ph type="title"/>
          </p:nvPr>
        </p:nvSpPr>
        <p:spPr>
          <a:xfrm>
            <a:off x="1140823" y="-25037"/>
            <a:ext cx="6858000" cy="808038"/>
          </a:xfrm>
          <a:prstGeom prst="rect">
            <a:avLst/>
          </a:prstGeom>
        </p:spPr>
        <p:txBody>
          <a:bodyPr>
            <a:normAutofit/>
          </a:bodyPr>
          <a:lstStyle/>
          <a:p>
            <a:r>
              <a:rPr sz="3200" dirty="0">
                <a:latin typeface="Times New Roman"/>
                <a:cs typeface="Times New Roman"/>
              </a:rPr>
              <a:t>References</a:t>
            </a:r>
          </a:p>
        </p:txBody>
      </p:sp>
      <p:sp>
        <p:nvSpPr>
          <p:cNvPr id="3" name="TextBox 2">
            <a:extLst>
              <a:ext uri="{FF2B5EF4-FFF2-40B4-BE49-F238E27FC236}">
                <a16:creationId xmlns:a16="http://schemas.microsoft.com/office/drawing/2014/main" id="{20969E78-3C83-13C3-8700-6481BB45ACF0}"/>
              </a:ext>
            </a:extLst>
          </p:cNvPr>
          <p:cNvSpPr txBox="1"/>
          <p:nvPr/>
        </p:nvSpPr>
        <p:spPr>
          <a:xfrm>
            <a:off x="581100" y="1285999"/>
            <a:ext cx="8184776" cy="50783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just"/>
            <a:r>
              <a:rPr lang="en-GB" sz="1200" dirty="0">
                <a:solidFill>
                  <a:schemeClr val="tx1"/>
                </a:solidFill>
                <a:effectLst/>
              </a:rPr>
              <a:t>[1] </a:t>
            </a:r>
            <a:r>
              <a:rPr lang="en-GB" sz="1200" dirty="0">
                <a:solidFill>
                  <a:schemeClr val="tx1"/>
                </a:solidFill>
              </a:rPr>
              <a:t>B. L. </a:t>
            </a:r>
            <a:r>
              <a:rPr lang="en-GB" sz="1200" dirty="0" err="1">
                <a:solidFill>
                  <a:schemeClr val="tx1"/>
                </a:solidFill>
              </a:rPr>
              <a:t>Mbaiossoum</a:t>
            </a:r>
            <a:r>
              <a:rPr lang="en-GB" sz="1200" dirty="0">
                <a:solidFill>
                  <a:schemeClr val="tx1"/>
                </a:solidFill>
              </a:rPr>
              <a:t>, A. D. Mahamat, N. </a:t>
            </a:r>
            <a:r>
              <a:rPr lang="en-GB" sz="1200" dirty="0" err="1">
                <a:solidFill>
                  <a:schemeClr val="tx1"/>
                </a:solidFill>
              </a:rPr>
              <a:t>Batouma</a:t>
            </a:r>
            <a:r>
              <a:rPr lang="en-GB" sz="1200" dirty="0">
                <a:solidFill>
                  <a:schemeClr val="tx1"/>
                </a:solidFill>
              </a:rPr>
              <a:t>, L. </a:t>
            </a:r>
            <a:r>
              <a:rPr lang="en-GB" sz="1200" dirty="0" err="1">
                <a:solidFill>
                  <a:schemeClr val="tx1"/>
                </a:solidFill>
              </a:rPr>
              <a:t>Dionlar</a:t>
            </a:r>
            <a:r>
              <a:rPr lang="en-GB" sz="1200" dirty="0">
                <a:solidFill>
                  <a:schemeClr val="tx1"/>
                </a:solidFill>
              </a:rPr>
              <a:t>, B. B. Apollinaire, and I. O. Adam, “How to choose the best AI LLM: A guide to navigating the diversity of models,” </a:t>
            </a:r>
            <a:r>
              <a:rPr lang="en-GB" sz="1200" i="1" dirty="0">
                <a:solidFill>
                  <a:schemeClr val="tx1"/>
                </a:solidFill>
              </a:rPr>
              <a:t>Journal of Information Systems Engineering and Management</a:t>
            </a:r>
            <a:r>
              <a:rPr lang="en-GB" sz="1200" dirty="0">
                <a:solidFill>
                  <a:schemeClr val="tx1"/>
                </a:solidFill>
              </a:rPr>
              <a:t>, vol. 10, no. 34s, Article 2845, 2025.</a:t>
            </a:r>
          </a:p>
          <a:p>
            <a:pPr algn="just"/>
            <a:r>
              <a:rPr lang="en-GB" sz="1200" dirty="0">
                <a:solidFill>
                  <a:schemeClr val="tx1"/>
                </a:solidFill>
              </a:rPr>
              <a:t>[2] Lin Liu, Jiajun Meng, Yongliang Yang, LLM technologies and information search,</a:t>
            </a:r>
          </a:p>
          <a:p>
            <a:pPr algn="just"/>
            <a:r>
              <a:rPr lang="en-GB" sz="1200" dirty="0">
                <a:solidFill>
                  <a:schemeClr val="tx1"/>
                </a:solidFill>
              </a:rPr>
              <a:t>Journal of Economy and Technology, Volume 2, 2024, Pages 269-277, ISSN 2949-9488.</a:t>
            </a:r>
          </a:p>
          <a:p>
            <a:pPr algn="just"/>
            <a:r>
              <a:rPr lang="en-US" sz="1200" dirty="0">
                <a:solidFill>
                  <a:schemeClr val="tx1"/>
                </a:solidFill>
              </a:rPr>
              <a:t>[3] W. X. Zhao, K. Zhou, J. Li, T. Tang, X. Wang, Y. Hou, Y. Min, B. Zhang, J. Zhang, Z. Dong, Y. Du, C. Yang, Y. Chen, Z. Chen, J. Jiang, R. Ren, Y. Li, X. Tang, Z. Liu, P. Liu, J.-Y. Nie, and J.-R. Wen, “A survey of large language models,” </a:t>
            </a:r>
            <a:r>
              <a:rPr lang="en-US" sz="1200" i="1" dirty="0" err="1">
                <a:solidFill>
                  <a:schemeClr val="tx1"/>
                </a:solidFill>
              </a:rPr>
              <a:t>arXiv</a:t>
            </a:r>
            <a:r>
              <a:rPr lang="en-US" sz="1200" i="1" dirty="0">
                <a:solidFill>
                  <a:schemeClr val="tx1"/>
                </a:solidFill>
              </a:rPr>
              <a:t> preprint arXiv:2303.18223</a:t>
            </a:r>
            <a:r>
              <a:rPr lang="en-US" sz="1200" dirty="0">
                <a:solidFill>
                  <a:schemeClr val="tx1"/>
                </a:solidFill>
              </a:rPr>
              <a:t>, Version v16, Mar. 2025. </a:t>
            </a:r>
          </a:p>
          <a:p>
            <a:pPr algn="just"/>
            <a:r>
              <a:rPr lang="en-US" sz="1200" dirty="0">
                <a:solidFill>
                  <a:schemeClr val="tx1"/>
                </a:solidFill>
              </a:rPr>
              <a:t>[4] J. An, J. Lee, J. Lee, and Y. Son, "Towards LLM-Centric Multimodal Fusion: A Survey on Integration Strategies and Techniques," </a:t>
            </a:r>
            <a:r>
              <a:rPr lang="en-US" sz="1200" i="1" dirty="0" err="1">
                <a:solidFill>
                  <a:schemeClr val="tx1"/>
                </a:solidFill>
              </a:rPr>
              <a:t>arXiv</a:t>
            </a:r>
            <a:r>
              <a:rPr lang="en-US" sz="1200" i="1" dirty="0">
                <a:solidFill>
                  <a:schemeClr val="tx1"/>
                </a:solidFill>
              </a:rPr>
              <a:t> preprint arXiv:2506.04788</a:t>
            </a:r>
            <a:r>
              <a:rPr lang="en-US" sz="1200" dirty="0">
                <a:solidFill>
                  <a:schemeClr val="tx1"/>
                </a:solidFill>
              </a:rPr>
              <a:t>, 2025.</a:t>
            </a:r>
          </a:p>
          <a:p>
            <a:pPr algn="just"/>
            <a:r>
              <a:rPr lang="en-US" sz="1200" dirty="0">
                <a:solidFill>
                  <a:schemeClr val="tx1"/>
                </a:solidFill>
              </a:rPr>
              <a:t>[5] Y. Saleh, M. Abu Talib, Q. Nasir, and F. </a:t>
            </a:r>
            <a:r>
              <a:rPr lang="en-US" sz="1200" dirty="0" err="1">
                <a:solidFill>
                  <a:schemeClr val="tx1"/>
                </a:solidFill>
              </a:rPr>
              <a:t>Dakalbab</a:t>
            </a:r>
            <a:r>
              <a:rPr lang="en-US" sz="1200" dirty="0">
                <a:solidFill>
                  <a:schemeClr val="tx1"/>
                </a:solidFill>
              </a:rPr>
              <a:t>, “Evaluating large language models: a systematic review of efficiency, applications, and future directions,” </a:t>
            </a:r>
            <a:r>
              <a:rPr lang="en-US" sz="1200" i="1" dirty="0">
                <a:solidFill>
                  <a:schemeClr val="tx1"/>
                </a:solidFill>
              </a:rPr>
              <a:t>Frontiers in Computer Science</a:t>
            </a:r>
            <a:r>
              <a:rPr lang="en-US" sz="1200" dirty="0">
                <a:solidFill>
                  <a:schemeClr val="tx1"/>
                </a:solidFill>
              </a:rPr>
              <a:t>, vol. 7, Article 1523699, 2025</a:t>
            </a:r>
          </a:p>
          <a:p>
            <a:r>
              <a:rPr lang="en-US" sz="1200" dirty="0">
                <a:solidFill>
                  <a:schemeClr val="tx1"/>
                </a:solidFill>
              </a:rPr>
              <a:t>[6] Yiheng Liu, Hao He, </a:t>
            </a:r>
            <a:r>
              <a:rPr lang="en-US" sz="1200" dirty="0" err="1">
                <a:solidFill>
                  <a:schemeClr val="tx1"/>
                </a:solidFill>
              </a:rPr>
              <a:t>Tianle</a:t>
            </a:r>
            <a:r>
              <a:rPr lang="en-US" sz="1200" dirty="0">
                <a:solidFill>
                  <a:schemeClr val="tx1"/>
                </a:solidFill>
              </a:rPr>
              <a:t> Han, Xu Zhang, </a:t>
            </a:r>
            <a:r>
              <a:rPr lang="en-US" sz="1200" dirty="0" err="1">
                <a:solidFill>
                  <a:schemeClr val="tx1"/>
                </a:solidFill>
              </a:rPr>
              <a:t>Mengyuan</a:t>
            </a:r>
            <a:r>
              <a:rPr lang="en-US" sz="1200" dirty="0">
                <a:solidFill>
                  <a:schemeClr val="tx1"/>
                </a:solidFill>
              </a:rPr>
              <a:t> Liu, Jiaming Tian, Yutong Zhang, Jiaqi Wang, Xiaohui Gao, </a:t>
            </a:r>
            <a:r>
              <a:rPr lang="en-US" sz="1200" dirty="0" err="1">
                <a:solidFill>
                  <a:schemeClr val="tx1"/>
                </a:solidFill>
              </a:rPr>
              <a:t>Tianyang</a:t>
            </a:r>
            <a:r>
              <a:rPr lang="en-US" sz="1200" dirty="0">
                <a:solidFill>
                  <a:schemeClr val="tx1"/>
                </a:solidFill>
              </a:rPr>
              <a:t> Zhong, Yi Pan, </a:t>
            </a:r>
            <a:r>
              <a:rPr lang="en-US" sz="1200" dirty="0" err="1">
                <a:solidFill>
                  <a:schemeClr val="tx1"/>
                </a:solidFill>
              </a:rPr>
              <a:t>Shaochen</a:t>
            </a:r>
            <a:r>
              <a:rPr lang="en-US" sz="1200" dirty="0">
                <a:solidFill>
                  <a:schemeClr val="tx1"/>
                </a:solidFill>
              </a:rPr>
              <a:t> Xu, Zihao Wu, </a:t>
            </a:r>
            <a:r>
              <a:rPr lang="en-US" sz="1200" dirty="0" err="1">
                <a:solidFill>
                  <a:schemeClr val="tx1"/>
                </a:solidFill>
              </a:rPr>
              <a:t>Zhengliang</a:t>
            </a:r>
            <a:r>
              <a:rPr lang="en-US" sz="1200" dirty="0">
                <a:solidFill>
                  <a:schemeClr val="tx1"/>
                </a:solidFill>
              </a:rPr>
              <a:t> Liu, Xin Zhang, Shu Zhang, </a:t>
            </a:r>
            <a:r>
              <a:rPr lang="en-US" sz="1200" dirty="0" err="1">
                <a:solidFill>
                  <a:schemeClr val="tx1"/>
                </a:solidFill>
              </a:rPr>
              <a:t>Xintao</a:t>
            </a:r>
            <a:r>
              <a:rPr lang="en-US" sz="1200" dirty="0">
                <a:solidFill>
                  <a:schemeClr val="tx1"/>
                </a:solidFill>
              </a:rPr>
              <a:t> Hu, Tuo Zhang, Ning Qiang, </a:t>
            </a:r>
            <a:r>
              <a:rPr lang="en-US" sz="1200" dirty="0" err="1">
                <a:solidFill>
                  <a:schemeClr val="tx1"/>
                </a:solidFill>
              </a:rPr>
              <a:t>Tianming</a:t>
            </a:r>
            <a:r>
              <a:rPr lang="en-US" sz="1200" dirty="0">
                <a:solidFill>
                  <a:schemeClr val="tx1"/>
                </a:solidFill>
              </a:rPr>
              <a:t> Liu, Bao </a:t>
            </a:r>
            <a:r>
              <a:rPr lang="en-US" sz="1200" dirty="0" err="1">
                <a:solidFill>
                  <a:schemeClr val="tx1"/>
                </a:solidFill>
              </a:rPr>
              <a:t>Ge,Understanding</a:t>
            </a:r>
            <a:r>
              <a:rPr lang="en-US" sz="1200" dirty="0">
                <a:solidFill>
                  <a:schemeClr val="tx1"/>
                </a:solidFill>
              </a:rPr>
              <a:t> LLMs: A comprehensive overview from training to </a:t>
            </a:r>
            <a:r>
              <a:rPr lang="en-US" sz="1200" dirty="0" err="1">
                <a:solidFill>
                  <a:schemeClr val="tx1"/>
                </a:solidFill>
              </a:rPr>
              <a:t>inference,Neurocomputing,Volume</a:t>
            </a:r>
            <a:r>
              <a:rPr lang="en-US" sz="1200" dirty="0">
                <a:solidFill>
                  <a:schemeClr val="tx1"/>
                </a:solidFill>
              </a:rPr>
              <a:t> 620,2025,129190,ISSN 0925- 2312,https://doi.org/10.1016/j.neucom.2024.129190.</a:t>
            </a:r>
          </a:p>
          <a:p>
            <a:pPr algn="just"/>
            <a:r>
              <a:rPr lang="en-US" sz="1200" dirty="0">
                <a:solidFill>
                  <a:schemeClr val="tx1"/>
                </a:solidFill>
              </a:rPr>
              <a:t>[7]  "LLMs' Understanding of Natural Language Revealed" arXiv:2407.19630 (or arXiv:2407.19630v2 )</a:t>
            </a:r>
            <a:endParaRPr lang="en-US" sz="1200" dirty="0">
              <a:solidFill>
                <a:schemeClr val="tx1"/>
              </a:solidFill>
              <a:latin typeface="Times New Roman" panose="02020603050405020304" pitchFamily="18" charset="0"/>
              <a:cs typeface="Times New Roman" panose="02020603050405020304" pitchFamily="18" charset="0"/>
            </a:endParaRPr>
          </a:p>
          <a:p>
            <a:pPr algn="just"/>
            <a:r>
              <a:rPr lang="en-US" sz="1200" dirty="0">
                <a:solidFill>
                  <a:schemeClr val="tx1"/>
                </a:solidFill>
              </a:rPr>
              <a:t>https://doi.org/10.48550/arXiv.2407.19630</a:t>
            </a:r>
            <a:endParaRPr lang="en-US" sz="1200" dirty="0">
              <a:solidFill>
                <a:schemeClr val="tx1"/>
              </a:solidFill>
              <a:latin typeface="Times New Roman" panose="02020603050405020304" pitchFamily="18" charset="0"/>
              <a:cs typeface="Times New Roman" panose="02020603050405020304" pitchFamily="18" charset="0"/>
            </a:endParaRPr>
          </a:p>
          <a:p>
            <a:pPr algn="just"/>
            <a:r>
              <a:rPr lang="en-US" sz="1200" dirty="0">
                <a:solidFill>
                  <a:schemeClr val="tx1"/>
                </a:solidFill>
              </a:rPr>
              <a:t>[8] Rock Yuren Pang, Hope Schroeder, Kynnedy Simone Smith, Solon Barocas, </a:t>
            </a:r>
            <a:r>
              <a:rPr lang="en-US" sz="1200" dirty="0" err="1">
                <a:solidFill>
                  <a:schemeClr val="tx1"/>
                </a:solidFill>
              </a:rPr>
              <a:t>Ziang</a:t>
            </a:r>
            <a:r>
              <a:rPr lang="en-US" sz="1200" dirty="0">
                <a:solidFill>
                  <a:schemeClr val="tx1"/>
                </a:solidFill>
              </a:rPr>
              <a:t> Xiao, Emily Tseng, and Danielle Bragg. 2025. Understanding the LLM-</a:t>
            </a:r>
            <a:r>
              <a:rPr lang="en-US" sz="1200" dirty="0" err="1">
                <a:solidFill>
                  <a:schemeClr val="tx1"/>
                </a:solidFill>
              </a:rPr>
              <a:t>ification</a:t>
            </a:r>
            <a:r>
              <a:rPr lang="en-US" sz="1200" dirty="0">
                <a:solidFill>
                  <a:schemeClr val="tx1"/>
                </a:solidFill>
              </a:rPr>
              <a:t> of CHI: Unpacking the Impact of LLMs at CHI through a Systematic Literature Review. In Proceedings of the 2025 CHI Conference on Human Factors in Computing Systems (CHI '25). Association for Computing Machinery, New York, NY, USA, Article 456, 1–20. https://doi.org/10.1145/3706598.3713726</a:t>
            </a:r>
            <a:endParaRPr lang="en-US" sz="1200" dirty="0">
              <a:solidFill>
                <a:schemeClr val="tx1"/>
              </a:solidFill>
              <a:latin typeface="Times New Roman" panose="02020603050405020304" pitchFamily="18" charset="0"/>
              <a:cs typeface="Times New Roman" panose="02020603050405020304" pitchFamily="18" charset="0"/>
            </a:endParaRPr>
          </a:p>
          <a:p>
            <a:pPr algn="just"/>
            <a:r>
              <a:rPr lang="en-US" sz="1200" dirty="0">
                <a:solidFill>
                  <a:schemeClr val="tx1"/>
                </a:solidFill>
              </a:rPr>
              <a:t>[9] </a:t>
            </a:r>
            <a:r>
              <a:rPr lang="en-US" sz="1200" dirty="0">
                <a:solidFill>
                  <a:schemeClr val="tx1"/>
                </a:solidFill>
                <a:ea typeface="Noto Sans"/>
                <a:cs typeface="Noto Sans"/>
              </a:rPr>
              <a:t>Ferraris AF, </a:t>
            </a:r>
            <a:r>
              <a:rPr lang="en-US" sz="1200" dirty="0" err="1">
                <a:solidFill>
                  <a:schemeClr val="tx1"/>
                </a:solidFill>
                <a:ea typeface="Noto Sans"/>
                <a:cs typeface="Noto Sans"/>
              </a:rPr>
              <a:t>Audrito</a:t>
            </a:r>
            <a:r>
              <a:rPr lang="en-US" sz="1200" dirty="0">
                <a:solidFill>
                  <a:schemeClr val="tx1"/>
                </a:solidFill>
                <a:ea typeface="Noto Sans"/>
                <a:cs typeface="Noto Sans"/>
              </a:rPr>
              <a:t> D, Caro LD, </a:t>
            </a:r>
            <a:r>
              <a:rPr lang="en-US" sz="1200" dirty="0" err="1">
                <a:solidFill>
                  <a:schemeClr val="tx1"/>
                </a:solidFill>
                <a:ea typeface="Noto Sans"/>
                <a:cs typeface="Noto Sans"/>
              </a:rPr>
              <a:t>Poncibò</a:t>
            </a:r>
            <a:r>
              <a:rPr lang="en-US" sz="1200" dirty="0">
                <a:solidFill>
                  <a:schemeClr val="tx1"/>
                </a:solidFill>
                <a:ea typeface="Noto Sans"/>
                <a:cs typeface="Noto Sans"/>
              </a:rPr>
              <a:t> C. The architecture of language: Understanding the mechanics behind LLMs. </a:t>
            </a:r>
            <a:r>
              <a:rPr lang="en-US" sz="1200" i="1" dirty="0">
                <a:solidFill>
                  <a:schemeClr val="tx1"/>
                </a:solidFill>
                <a:ea typeface="Noto Sans"/>
                <a:cs typeface="Noto Sans"/>
              </a:rPr>
              <a:t>Cambridge Forum on AI: Law and Governance</a:t>
            </a:r>
            <a:r>
              <a:rPr lang="en-US" sz="1200" dirty="0">
                <a:solidFill>
                  <a:schemeClr val="tx1"/>
                </a:solidFill>
                <a:ea typeface="Noto Sans"/>
                <a:cs typeface="Noto Sans"/>
              </a:rPr>
              <a:t>. 2025;1:e11. doi:10.1017/cfl.2024.16</a:t>
            </a:r>
          </a:p>
          <a:p>
            <a:pPr algn="just"/>
            <a:r>
              <a:rPr lang="en-US" sz="1200" dirty="0">
                <a:solidFill>
                  <a:schemeClr val="tx1"/>
                </a:solidFill>
              </a:rPr>
              <a:t>[10] "Understanding LLM Embeddings for Regression", arXiv:2411.14708 (or arXiv:2411.14708v3)</a:t>
            </a:r>
            <a:endParaRPr lang="en-US" sz="1200" dirty="0">
              <a:solidFill>
                <a:schemeClr val="tx1"/>
              </a:solidFill>
              <a:latin typeface="Times New Roman" panose="02020603050405020304" pitchFamily="18" charset="0"/>
              <a:cs typeface="Times New Roman" panose="02020603050405020304" pitchFamily="18" charset="0"/>
            </a:endParaRPr>
          </a:p>
          <a:p>
            <a:pPr algn="just"/>
            <a:r>
              <a:rPr lang="en-US" sz="1200" dirty="0">
                <a:solidFill>
                  <a:schemeClr val="tx1"/>
                </a:solidFill>
              </a:rPr>
              <a:t>https://doi.org/10.48550/arXiv.2411.14708</a:t>
            </a:r>
          </a:p>
          <a:p>
            <a:pPr algn="just"/>
            <a:endParaRPr lang="en-US" sz="1200" dirty="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58554-9A36-C832-F92D-9BBC54624ABE}"/>
            </a:ext>
          </a:extLst>
        </p:cNvPr>
        <p:cNvGrpSpPr/>
        <p:nvPr/>
      </p:nvGrpSpPr>
      <p:grpSpPr>
        <a:xfrm>
          <a:off x="0" y="0"/>
          <a:ext cx="0" cy="0"/>
          <a:chOff x="0" y="0"/>
          <a:chExt cx="0" cy="0"/>
        </a:xfrm>
      </p:grpSpPr>
      <p:sp>
        <p:nvSpPr>
          <p:cNvPr id="207" name="Slide Number">
            <a:extLst>
              <a:ext uri="{FF2B5EF4-FFF2-40B4-BE49-F238E27FC236}">
                <a16:creationId xmlns:a16="http://schemas.microsoft.com/office/drawing/2014/main" id="{98B053D9-AE66-704A-8CE1-58C8C2A0A14A}"/>
              </a:ext>
            </a:extLst>
          </p:cNvPr>
          <p:cNvSpPr txBox="1">
            <a:spLocks noGrp="1"/>
          </p:cNvSpPr>
          <p:nvPr>
            <p:ph type="sldNum" sz="quarter" idx="2"/>
          </p:nvPr>
        </p:nvSpPr>
        <p:spPr>
          <a:xfrm>
            <a:off x="8407576" y="381000"/>
            <a:ext cx="203024" cy="288824"/>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13</a:t>
            </a:fld>
            <a:endParaRPr/>
          </a:p>
        </p:txBody>
      </p:sp>
      <p:sp>
        <p:nvSpPr>
          <p:cNvPr id="210" name="References">
            <a:extLst>
              <a:ext uri="{FF2B5EF4-FFF2-40B4-BE49-F238E27FC236}">
                <a16:creationId xmlns:a16="http://schemas.microsoft.com/office/drawing/2014/main" id="{BC24583D-9DD3-BF6F-F237-EABEFC66CA79}"/>
              </a:ext>
            </a:extLst>
          </p:cNvPr>
          <p:cNvSpPr txBox="1">
            <a:spLocks noGrp="1"/>
          </p:cNvSpPr>
          <p:nvPr>
            <p:ph type="title"/>
          </p:nvPr>
        </p:nvSpPr>
        <p:spPr>
          <a:xfrm>
            <a:off x="1140823" y="-25037"/>
            <a:ext cx="6858000" cy="808038"/>
          </a:xfrm>
          <a:prstGeom prst="rect">
            <a:avLst/>
          </a:prstGeom>
        </p:spPr>
        <p:txBody>
          <a:bodyPr>
            <a:normAutofit/>
          </a:bodyPr>
          <a:lstStyle/>
          <a:p>
            <a:r>
              <a:rPr sz="3200">
                <a:latin typeface="Times New Roman"/>
                <a:cs typeface="Times New Roman"/>
              </a:rPr>
              <a:t>References</a:t>
            </a:r>
          </a:p>
        </p:txBody>
      </p:sp>
      <p:sp>
        <p:nvSpPr>
          <p:cNvPr id="3" name="TextBox 2">
            <a:extLst>
              <a:ext uri="{FF2B5EF4-FFF2-40B4-BE49-F238E27FC236}">
                <a16:creationId xmlns:a16="http://schemas.microsoft.com/office/drawing/2014/main" id="{A97FADA8-9A7C-DE65-1C17-B27FE46BAA28}"/>
              </a:ext>
            </a:extLst>
          </p:cNvPr>
          <p:cNvSpPr txBox="1"/>
          <p:nvPr/>
        </p:nvSpPr>
        <p:spPr>
          <a:xfrm>
            <a:off x="647122" y="1337507"/>
            <a:ext cx="8140603" cy="757130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algn="just"/>
            <a:r>
              <a:rPr lang="en-GB" sz="1200" b="0" dirty="0">
                <a:solidFill>
                  <a:srgbClr val="222222"/>
                </a:solidFill>
                <a:effectLst/>
              </a:rPr>
              <a:t>[</a:t>
            </a:r>
            <a:r>
              <a:rPr lang="en-GB" sz="1200" dirty="0">
                <a:solidFill>
                  <a:srgbClr val="222222"/>
                </a:solidFill>
              </a:rPr>
              <a:t>11</a:t>
            </a:r>
            <a:r>
              <a:rPr lang="en-GB" sz="1200" b="0" dirty="0">
                <a:solidFill>
                  <a:srgbClr val="222222"/>
                </a:solidFill>
                <a:effectLst/>
              </a:rPr>
              <a:t>]</a:t>
            </a:r>
            <a:r>
              <a:rPr lang="en-GB" sz="1200" dirty="0">
                <a:solidFill>
                  <a:srgbClr val="222222"/>
                </a:solidFill>
              </a:rPr>
              <a:t>T. </a:t>
            </a:r>
            <a:r>
              <a:rPr lang="en-GB" sz="1200" dirty="0" err="1">
                <a:solidFill>
                  <a:srgbClr val="222222"/>
                </a:solidFill>
              </a:rPr>
              <a:t>Voigtlaender</a:t>
            </a:r>
            <a:r>
              <a:rPr lang="en-GB" sz="1200" dirty="0">
                <a:solidFill>
                  <a:srgbClr val="222222"/>
                </a:solidFill>
              </a:rPr>
              <a:t>, “Recursively Summarizing Enables Long-Term Dialogue Memory in Large Language Models,” </a:t>
            </a:r>
            <a:r>
              <a:rPr lang="en-GB" sz="1200" i="1" dirty="0" err="1">
                <a:solidFill>
                  <a:srgbClr val="222222"/>
                </a:solidFill>
              </a:rPr>
              <a:t>arXiv</a:t>
            </a:r>
            <a:r>
              <a:rPr lang="en-GB" sz="1200" i="1" dirty="0">
                <a:solidFill>
                  <a:srgbClr val="222222"/>
                </a:solidFill>
              </a:rPr>
              <a:t> preprint arXiv:2308.15022</a:t>
            </a:r>
            <a:r>
              <a:rPr lang="en-GB" sz="1200" dirty="0">
                <a:solidFill>
                  <a:srgbClr val="222222"/>
                </a:solidFill>
              </a:rPr>
              <a:t>, 2023. [Online]. Available: </a:t>
            </a:r>
            <a:r>
              <a:rPr lang="en-GB" sz="1200" dirty="0">
                <a:solidFill>
                  <a:srgbClr val="222222"/>
                </a:solidFill>
                <a:hlinkClick r:id="rId2"/>
              </a:rPr>
              <a:t>https://arxiv.org/abs/2308.15022</a:t>
            </a:r>
            <a:endParaRPr lang="en-US" sz="1200" dirty="0"/>
          </a:p>
          <a:p>
            <a:pPr algn="just"/>
            <a:r>
              <a:rPr lang="en-GB" sz="1200" dirty="0">
                <a:solidFill>
                  <a:srgbClr val="222222"/>
                </a:solidFill>
              </a:rPr>
              <a:t>[12]Y. Li, Y. Chen, Z. Chen, and M. Huang, “In Prospect and Retrospect: Reflective Memory Management for Long-term Personalized Dialogue Agents,” </a:t>
            </a:r>
            <a:r>
              <a:rPr lang="en-GB" sz="1200" i="1" dirty="0" err="1">
                <a:solidFill>
                  <a:srgbClr val="222222"/>
                </a:solidFill>
              </a:rPr>
              <a:t>arXiv</a:t>
            </a:r>
            <a:r>
              <a:rPr lang="en-GB" sz="1200" i="1" dirty="0">
                <a:solidFill>
                  <a:srgbClr val="222222"/>
                </a:solidFill>
              </a:rPr>
              <a:t> preprint arXiv:2503.08026</a:t>
            </a:r>
            <a:r>
              <a:rPr lang="en-GB" sz="1200" dirty="0">
                <a:solidFill>
                  <a:srgbClr val="222222"/>
                </a:solidFill>
              </a:rPr>
              <a:t>, 2025. [Online]. Available: </a:t>
            </a:r>
            <a:r>
              <a:rPr lang="en-GB" sz="1200" dirty="0">
                <a:solidFill>
                  <a:srgbClr val="222222"/>
                </a:solidFill>
                <a:hlinkClick r:id="rId3"/>
              </a:rPr>
              <a:t>https://arxiv.org/abs/2503.08026</a:t>
            </a:r>
            <a:endParaRPr lang="en-GB" sz="1200" dirty="0"/>
          </a:p>
          <a:p>
            <a:pPr algn="just"/>
            <a:r>
              <a:rPr lang="en-GB" sz="1200" dirty="0">
                <a:solidFill>
                  <a:srgbClr val="222222"/>
                </a:solidFill>
              </a:rPr>
              <a:t>[13]”</a:t>
            </a:r>
            <a:r>
              <a:rPr lang="en-GB" sz="1200" b="1" dirty="0">
                <a:solidFill>
                  <a:srgbClr val="222222"/>
                </a:solidFill>
              </a:rPr>
              <a:t>Augmenting Language Models with Long-Term Memory</a:t>
            </a:r>
            <a:r>
              <a:rPr lang="en-GB" sz="1200" dirty="0">
                <a:solidFill>
                  <a:srgbClr val="222222"/>
                </a:solidFill>
              </a:rPr>
              <a:t>“</a:t>
            </a:r>
            <a:r>
              <a:rPr lang="en-GB" sz="1200" dirty="0">
                <a:solidFill>
                  <a:srgbClr val="222222"/>
                </a:solidFill>
                <a:hlinkClick r:id="rId4"/>
              </a:rPr>
              <a:t>arXiv:2306.07174</a:t>
            </a:r>
            <a:r>
              <a:rPr lang="en-GB" sz="1200" b="1" dirty="0">
                <a:solidFill>
                  <a:srgbClr val="222222"/>
                </a:solidFill>
              </a:rPr>
              <a:t> [cs.CL]</a:t>
            </a:r>
            <a:endParaRPr lang="en-GB" sz="1200" b="1" dirty="0"/>
          </a:p>
          <a:p>
            <a:pPr algn="just"/>
            <a:r>
              <a:rPr lang="en-GB" sz="1200" dirty="0">
                <a:solidFill>
                  <a:srgbClr val="222222"/>
                </a:solidFill>
              </a:rPr>
              <a:t>(or </a:t>
            </a:r>
            <a:r>
              <a:rPr lang="en-GB" sz="1200" dirty="0">
                <a:solidFill>
                  <a:srgbClr val="222222"/>
                </a:solidFill>
                <a:hlinkClick r:id="rId5"/>
              </a:rPr>
              <a:t>arXiv:2306.07174v1</a:t>
            </a:r>
            <a:r>
              <a:rPr lang="en-GB" sz="1200" b="1" dirty="0">
                <a:solidFill>
                  <a:srgbClr val="222222"/>
                </a:solidFill>
              </a:rPr>
              <a:t> [cs.CL]</a:t>
            </a:r>
            <a:r>
              <a:rPr lang="en-GB" sz="1200" dirty="0">
                <a:solidFill>
                  <a:srgbClr val="222222"/>
                </a:solidFill>
              </a:rPr>
              <a:t> for this version)</a:t>
            </a:r>
            <a:endParaRPr lang="en-GB" sz="1200" dirty="0"/>
          </a:p>
          <a:p>
            <a:pPr algn="just"/>
            <a:r>
              <a:rPr lang="en-GB" sz="1200" dirty="0">
                <a:solidFill>
                  <a:srgbClr val="222222"/>
                </a:solidFill>
                <a:hlinkClick r:id="rId6"/>
              </a:rPr>
              <a:t>https://doi.org/10.48550/arXiv.2306.07174</a:t>
            </a:r>
            <a:endParaRPr lang="en-GB" sz="1200" dirty="0"/>
          </a:p>
          <a:p>
            <a:pPr algn="just"/>
            <a:r>
              <a:rPr lang="en-GB" sz="1200" dirty="0">
                <a:solidFill>
                  <a:srgbClr val="222222"/>
                </a:solidFill>
              </a:rPr>
              <a:t>[14]”</a:t>
            </a:r>
            <a:r>
              <a:rPr lang="en-GB" sz="1200" b="1" dirty="0">
                <a:solidFill>
                  <a:srgbClr val="222222"/>
                </a:solidFill>
              </a:rPr>
              <a:t>The Sun and core-collapse supernovae are leading probes of the neutrino lifetime</a:t>
            </a:r>
            <a:r>
              <a:rPr lang="en-GB" sz="1200" dirty="0">
                <a:solidFill>
                  <a:srgbClr val="222222"/>
                </a:solidFill>
              </a:rPr>
              <a:t>“</a:t>
            </a:r>
            <a:r>
              <a:rPr lang="en-GB" sz="1200" dirty="0">
                <a:solidFill>
                  <a:srgbClr val="222222"/>
                </a:solidFill>
                <a:hlinkClick r:id="rId7"/>
              </a:rPr>
              <a:t>arXiv:2402.00116</a:t>
            </a:r>
            <a:r>
              <a:rPr lang="en-GB" sz="1200" dirty="0">
                <a:solidFill>
                  <a:srgbClr val="222222"/>
                </a:solidFill>
              </a:rPr>
              <a:t>,(or </a:t>
            </a:r>
            <a:r>
              <a:rPr lang="en-GB" sz="1200" dirty="0">
                <a:solidFill>
                  <a:srgbClr val="222222"/>
                </a:solidFill>
                <a:hlinkClick r:id="rId8"/>
              </a:rPr>
              <a:t>arXiv:2402.00116v3</a:t>
            </a:r>
            <a:r>
              <a:rPr lang="en-GB" sz="1200" b="1" dirty="0">
                <a:solidFill>
                  <a:srgbClr val="222222"/>
                </a:solidFill>
              </a:rPr>
              <a:t> [astro-</a:t>
            </a:r>
            <a:r>
              <a:rPr lang="en-GB" sz="1200" b="1" dirty="0" err="1">
                <a:solidFill>
                  <a:srgbClr val="222222"/>
                </a:solidFill>
              </a:rPr>
              <a:t>ph.HE</a:t>
            </a:r>
            <a:r>
              <a:rPr lang="en-GB" sz="1200" b="1" dirty="0">
                <a:solidFill>
                  <a:srgbClr val="222222"/>
                </a:solidFill>
              </a:rPr>
              <a:t>]</a:t>
            </a:r>
            <a:r>
              <a:rPr lang="en-GB" sz="1200" dirty="0">
                <a:solidFill>
                  <a:srgbClr val="222222"/>
                </a:solidFill>
              </a:rPr>
              <a:t> for this version),</a:t>
            </a:r>
            <a:r>
              <a:rPr lang="en-GB" sz="1200" dirty="0">
                <a:solidFill>
                  <a:srgbClr val="222222"/>
                </a:solidFill>
                <a:hlinkClick r:id="rId9"/>
              </a:rPr>
              <a:t>https://doi.org/10.48550/arXiv.2402.00116</a:t>
            </a:r>
            <a:endParaRPr lang="en-US" sz="1200" dirty="0"/>
          </a:p>
          <a:p>
            <a:pPr algn="just"/>
            <a:r>
              <a:rPr lang="en-GB" sz="1200" dirty="0">
                <a:solidFill>
                  <a:srgbClr val="222222"/>
                </a:solidFill>
              </a:rPr>
              <a:t>[15]</a:t>
            </a:r>
            <a:r>
              <a:rPr lang="en-GB" sz="1200" b="1" dirty="0">
                <a:solidFill>
                  <a:srgbClr val="222222"/>
                </a:solidFill>
              </a:rPr>
              <a:t>Efficient Memory Management for Large Language Model Serving with PagedAttention,</a:t>
            </a:r>
            <a:r>
              <a:rPr lang="en-GB" sz="1200" dirty="0">
                <a:solidFill>
                  <a:srgbClr val="222222"/>
                </a:solidFill>
                <a:hlinkClick r:id="rId10"/>
              </a:rPr>
              <a:t>arXiv:2309.06180</a:t>
            </a:r>
            <a:r>
              <a:rPr lang="en-GB" sz="1200" b="1" dirty="0">
                <a:solidFill>
                  <a:srgbClr val="222222"/>
                </a:solidFill>
              </a:rPr>
              <a:t> [</a:t>
            </a:r>
            <a:r>
              <a:rPr lang="en-GB" sz="1200" b="1" dirty="0" err="1">
                <a:solidFill>
                  <a:srgbClr val="222222"/>
                </a:solidFill>
              </a:rPr>
              <a:t>cs.LG</a:t>
            </a:r>
            <a:r>
              <a:rPr lang="en-GB" sz="1200" b="1" dirty="0">
                <a:solidFill>
                  <a:srgbClr val="222222"/>
                </a:solidFill>
              </a:rPr>
              <a:t>]</a:t>
            </a:r>
            <a:r>
              <a:rPr lang="en-GB" sz="1200" dirty="0">
                <a:solidFill>
                  <a:srgbClr val="222222"/>
                </a:solidFill>
              </a:rPr>
              <a:t>(or </a:t>
            </a:r>
            <a:r>
              <a:rPr lang="en-GB" sz="1200" dirty="0">
                <a:solidFill>
                  <a:srgbClr val="222222"/>
                </a:solidFill>
                <a:hlinkClick r:id="rId11"/>
              </a:rPr>
              <a:t>arXiv:2309.06180v1</a:t>
            </a:r>
            <a:r>
              <a:rPr lang="en-GB" sz="1200" b="1" dirty="0">
                <a:solidFill>
                  <a:srgbClr val="222222"/>
                </a:solidFill>
              </a:rPr>
              <a:t> [</a:t>
            </a:r>
            <a:r>
              <a:rPr lang="en-GB" sz="1200" b="1" dirty="0" err="1">
                <a:solidFill>
                  <a:srgbClr val="222222"/>
                </a:solidFill>
              </a:rPr>
              <a:t>cs.LG</a:t>
            </a:r>
            <a:r>
              <a:rPr lang="en-GB" sz="1200" b="1" dirty="0">
                <a:solidFill>
                  <a:srgbClr val="222222"/>
                </a:solidFill>
              </a:rPr>
              <a:t>]</a:t>
            </a:r>
            <a:r>
              <a:rPr lang="en-GB" sz="1200" dirty="0">
                <a:solidFill>
                  <a:srgbClr val="222222"/>
                </a:solidFill>
              </a:rPr>
              <a:t> for this version),</a:t>
            </a:r>
            <a:r>
              <a:rPr lang="en-GB" sz="1200" dirty="0">
                <a:solidFill>
                  <a:srgbClr val="222222"/>
                </a:solidFill>
                <a:hlinkClick r:id="rId12"/>
              </a:rPr>
              <a:t>https://doi.org/10.48550/arXiv.2309.06180</a:t>
            </a:r>
            <a:endParaRPr lang="en-US" sz="1200" dirty="0"/>
          </a:p>
          <a:p>
            <a:pPr algn="just"/>
            <a:r>
              <a:rPr lang="en-GB" sz="1200" dirty="0">
                <a:solidFill>
                  <a:srgbClr val="222222"/>
                </a:solidFill>
              </a:rPr>
              <a:t>[16]P. Sahoo, A. K. Singh, S. Saha, V. Jain, S. Mondal, and A. Chadha, "A Systematic Survey of Prompt Engineering in Large Language Models," </a:t>
            </a:r>
            <a:r>
              <a:rPr lang="en-GB" sz="1200" dirty="0" err="1">
                <a:solidFill>
                  <a:srgbClr val="222222"/>
                </a:solidFill>
              </a:rPr>
              <a:t>arXiv</a:t>
            </a:r>
            <a:r>
              <a:rPr lang="en-GB" sz="1200" dirty="0">
                <a:solidFill>
                  <a:srgbClr val="222222"/>
                </a:solidFill>
              </a:rPr>
              <a:t> preprint arXiv:2402.07927, 2024.</a:t>
            </a:r>
          </a:p>
          <a:p>
            <a:pPr algn="just"/>
            <a:r>
              <a:rPr lang="en-GB" sz="1200" dirty="0">
                <a:solidFill>
                  <a:srgbClr val="222222"/>
                </a:solidFill>
              </a:rPr>
              <a:t>[17]B. Chen, Z. Zhang, N. </a:t>
            </a:r>
            <a:r>
              <a:rPr lang="en-GB" sz="1200" dirty="0" err="1">
                <a:solidFill>
                  <a:srgbClr val="222222"/>
                </a:solidFill>
              </a:rPr>
              <a:t>Langrené</a:t>
            </a:r>
            <a:r>
              <a:rPr lang="en-GB" sz="1200" dirty="0">
                <a:solidFill>
                  <a:srgbClr val="222222"/>
                </a:solidFill>
              </a:rPr>
              <a:t>, and S. Zhu, "Unleashing the potential of prompt engineering for large language models," </a:t>
            </a:r>
            <a:r>
              <a:rPr lang="en-GB" sz="1200" dirty="0" err="1">
                <a:solidFill>
                  <a:srgbClr val="222222"/>
                </a:solidFill>
              </a:rPr>
              <a:t>arXiv</a:t>
            </a:r>
            <a:r>
              <a:rPr lang="en-GB" sz="1200" dirty="0">
                <a:solidFill>
                  <a:srgbClr val="222222"/>
                </a:solidFill>
              </a:rPr>
              <a:t> preprint arXiv:2310.14735, 2023.</a:t>
            </a:r>
          </a:p>
          <a:p>
            <a:pPr algn="just"/>
            <a:r>
              <a:rPr lang="en-GB" sz="1200" dirty="0">
                <a:solidFill>
                  <a:srgbClr val="222222"/>
                </a:solidFill>
              </a:rPr>
              <a:t>[18]S. Schulhoff et al., "The Prompt Report: A Systematic Survey of Prompt Engineering Techniques," </a:t>
            </a:r>
            <a:r>
              <a:rPr lang="en-GB" sz="1200" dirty="0" err="1">
                <a:solidFill>
                  <a:srgbClr val="222222"/>
                </a:solidFill>
              </a:rPr>
              <a:t>arXiv</a:t>
            </a:r>
            <a:r>
              <a:rPr lang="en-GB" sz="1200" dirty="0">
                <a:solidFill>
                  <a:srgbClr val="222222"/>
                </a:solidFill>
              </a:rPr>
              <a:t> preprint arXiv:2406.06608, 2025.</a:t>
            </a:r>
          </a:p>
          <a:p>
            <a:pPr algn="just"/>
            <a:r>
              <a:rPr lang="en-GB" sz="1200" dirty="0">
                <a:solidFill>
                  <a:srgbClr val="222222"/>
                </a:solidFill>
              </a:rPr>
              <a:t>[19]L. Giray, "Prompt Engineering with ChatGPT: A Guide for Academic Writers," Annals of Biomedical Engineering, vol. 51, pp. 2629–2633, 2023. </a:t>
            </a:r>
            <a:r>
              <a:rPr lang="en-GB" sz="1200" dirty="0" err="1">
                <a:solidFill>
                  <a:srgbClr val="222222"/>
                </a:solidFill>
              </a:rPr>
              <a:t>doi</a:t>
            </a:r>
            <a:r>
              <a:rPr lang="en-GB" sz="1200" dirty="0">
                <a:solidFill>
                  <a:srgbClr val="222222"/>
                </a:solidFill>
              </a:rPr>
              <a:t>: 10.1007/s10439-023-03272-4.</a:t>
            </a:r>
          </a:p>
          <a:p>
            <a:pPr algn="just"/>
            <a:r>
              <a:rPr lang="en-GB" sz="1200" dirty="0">
                <a:solidFill>
                  <a:srgbClr val="222222"/>
                </a:solidFill>
              </a:rPr>
              <a:t>[20]L. Wang et al., "Prompt engineering in consistency and reliability with the evidence-based guideline for LLMs," </a:t>
            </a:r>
            <a:r>
              <a:rPr lang="en-GB" sz="1200" dirty="0" err="1">
                <a:solidFill>
                  <a:srgbClr val="222222"/>
                </a:solidFill>
              </a:rPr>
              <a:t>npj</a:t>
            </a:r>
            <a:r>
              <a:rPr lang="en-GB" sz="1200" dirty="0">
                <a:solidFill>
                  <a:srgbClr val="222222"/>
                </a:solidFill>
              </a:rPr>
              <a:t> Digital Medicine, vol. 7, Article 41, 2024. </a:t>
            </a:r>
            <a:r>
              <a:rPr lang="en-GB" sz="1200" dirty="0" err="1">
                <a:solidFill>
                  <a:srgbClr val="222222"/>
                </a:solidFill>
              </a:rPr>
              <a:t>doi</a:t>
            </a:r>
            <a:r>
              <a:rPr lang="en-GB" sz="1200" dirty="0">
                <a:solidFill>
                  <a:srgbClr val="222222"/>
                </a:solidFill>
              </a:rPr>
              <a:t>: 10.1038/s41746-024-01079-2.</a:t>
            </a:r>
          </a:p>
          <a:p>
            <a:pPr algn="just"/>
            <a:endParaRPr lang="en-GB" sz="1200" dirty="0">
              <a:solidFill>
                <a:srgbClr val="222222"/>
              </a:solidFill>
            </a:endParaRPr>
          </a:p>
          <a:p>
            <a:pPr algn="just"/>
            <a:br>
              <a:rPr lang="en-US" dirty="0"/>
            </a:br>
            <a:endParaRPr lang="en-US" dirty="0"/>
          </a:p>
          <a:p>
            <a:pPr algn="just"/>
            <a:br>
              <a:rPr lang="en-US" dirty="0"/>
            </a:br>
            <a:endParaRPr lang="en-US" dirty="0"/>
          </a:p>
          <a:p>
            <a:pPr algn="just"/>
            <a:br>
              <a:rPr lang="en-US" dirty="0"/>
            </a:br>
            <a:endParaRPr lang="en-US" dirty="0"/>
          </a:p>
          <a:p>
            <a:pPr algn="just"/>
            <a:br>
              <a:rPr lang="en-US" dirty="0"/>
            </a:br>
            <a:endParaRPr lang="en-US" dirty="0"/>
          </a:p>
          <a:p>
            <a:pPr algn="just"/>
            <a:br>
              <a:rPr lang="en-US" dirty="0"/>
            </a:br>
            <a:endParaRPr lang="en-US" dirty="0"/>
          </a:p>
          <a:p>
            <a:pPr algn="just"/>
            <a:br>
              <a:rPr lang="en-US" dirty="0"/>
            </a:br>
            <a:endParaRPr lang="en-US" dirty="0"/>
          </a:p>
          <a:p>
            <a:pPr algn="just"/>
            <a:br>
              <a:rPr lang="en-US" dirty="0"/>
            </a:br>
            <a:endParaRPr lang="en-US" dirty="0"/>
          </a:p>
          <a:p>
            <a:pPr algn="just"/>
            <a:endParaRPr lang="en-GB" dirty="0">
              <a:solidFill>
                <a:srgbClr val="22222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051469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2809149"/>
            <a:ext cx="8229600" cy="1508126"/>
          </a:xfrm>
        </p:spPr>
        <p:txBody>
          <a:bodyPr/>
          <a:lstStyle/>
          <a:p>
            <a:r>
              <a:rPr lang="en-US" sz="4400">
                <a:latin typeface="Times New Roman" panose="02020603050405020304" pitchFamily="18" charset="0"/>
                <a:cs typeface="Times New Roman" panose="02020603050405020304" pitchFamily="18" charset="0"/>
              </a:rPr>
              <a:t>THANK YOU</a:t>
            </a:r>
            <a:endParaRPr lang="en-IN" sz="440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721A96B-8B05-BD49-B6F0-8D4DA60AFD49}"/>
              </a:ext>
            </a:extLst>
          </p:cNvPr>
          <p:cNvSpPr>
            <a:spLocks noGrp="1"/>
          </p:cNvSpPr>
          <p:nvPr>
            <p:ph type="sldNum" sz="quarter" idx="2"/>
          </p:nvPr>
        </p:nvSpPr>
        <p:spPr/>
        <p:txBody>
          <a:bodyPr/>
          <a:lstStyle/>
          <a:p>
            <a:fld id="{86CB4B4D-7CA3-9044-876B-883B54F8677D}" type="slidenum">
              <a:rPr lang="en-IN" smtClean="0"/>
              <a:t>14</a:t>
            </a:fld>
            <a:endParaRPr lang="en-IN"/>
          </a:p>
        </p:txBody>
      </p:sp>
    </p:spTree>
    <p:extLst>
      <p:ext uri="{BB962C8B-B14F-4D97-AF65-F5344CB8AC3E}">
        <p14:creationId xmlns:p14="http://schemas.microsoft.com/office/powerpoint/2010/main" val="2290172774"/>
      </p:ext>
    </p:extLst>
  </p:cSld>
  <p:clrMapOvr>
    <a:masterClrMapping/>
  </p:clrMapOvr>
  <p:transition spd="med"/>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Times New Roman"/>
            <a:ea typeface="Times New Roman"/>
            <a:cs typeface="Times New Roman"/>
            <a:sym typeface="Times New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2324</Words>
  <Application>Microsoft Office PowerPoint</Application>
  <PresentationFormat>On-screen Show (4:3)</PresentationFormat>
  <Paragraphs>162</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fkGroteskNeue</vt:lpstr>
      <vt:lpstr>Helvetica</vt:lpstr>
      <vt:lpstr>Noto Sans</vt:lpstr>
      <vt:lpstr>Times New Roman</vt:lpstr>
      <vt:lpstr>11_Default Design</vt:lpstr>
      <vt:lpstr>Design and Development of an Adaptive Context-Aware Memory Optimisation Framework for Large Language Model (LLM) Conversations 19CSE495 / 22AIE498 Project Phase 1 – Approval Presentation  Team ID: 22UG076   Panel No.: 16</vt:lpstr>
      <vt:lpstr>Problem Definition</vt:lpstr>
      <vt:lpstr>Problem Outcomes</vt:lpstr>
      <vt:lpstr>Literature Survey</vt:lpstr>
      <vt:lpstr>Literature Survey</vt:lpstr>
      <vt:lpstr>Justification for the Proposed Problem</vt:lpstr>
      <vt:lpstr>Justification for the Proposed Problem</vt:lpstr>
      <vt:lpstr>Software/Tools Requirements</vt:lpstr>
      <vt:lpstr>PowerPoint Presentation</vt:lpstr>
      <vt:lpstr>Timeline</vt:lpstr>
      <vt:lpstr>Conclusion</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Speech Emotion Detection System</dc:title>
  <dc:creator>sundar rathinavel</dc:creator>
  <cp:lastModifiedBy>namratha akshaya</cp:lastModifiedBy>
  <cp:revision>3</cp:revision>
  <dcterms:modified xsi:type="dcterms:W3CDTF">2025-08-18T13:19:56Z</dcterms:modified>
</cp:coreProperties>
</file>